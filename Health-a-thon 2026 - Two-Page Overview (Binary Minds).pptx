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youtu.be/Kia1C-a0QLk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37744"/>
            <a:ext cx="69951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000" b="1" i="0">
                <a:solidFill>
                  <a:srgbClr val="1A4599"/>
                </a:solidFill>
                <a:latin typeface="Aptos Display"/>
              </a:rPr>
              <a:t>Binary Minds  |  RoundsAI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92440" y="173736"/>
            <a:ext cx="2606040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2100" b="1" i="0">
                <a:solidFill>
                  <a:srgbClr val="00843D"/>
                </a:solidFill>
                <a:latin typeface="Aptos Display"/>
              </a:rPr>
              <a:t>Health-a-thon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61320" y="201168"/>
            <a:ext cx="10515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2000" b="1" i="0">
                <a:solidFill>
                  <a:srgbClr val="1A4599"/>
                </a:solidFill>
                <a:latin typeface="Aptos Display"/>
              </a:rPr>
              <a:t>2026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749808"/>
            <a:ext cx="11183112" cy="0"/>
          </a:xfrm>
          <a:prstGeom prst="line">
            <a:avLst/>
          </a:prstGeom>
          <a:ln w="15240">
            <a:solidFill>
              <a:srgbClr val="1A45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927080" y="6519672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64748B"/>
                </a:solidFill>
                <a:latin typeface="Aptos"/>
              </a:rPr>
              <a:t>1 / 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932688"/>
            <a:ext cx="4224528" cy="2167128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12648" y="996696"/>
            <a:ext cx="400507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60" b="1" i="0">
                <a:solidFill>
                  <a:srgbClr val="1A4599"/>
                </a:solidFill>
                <a:latin typeface="Aptos"/>
              </a:rPr>
              <a:t>About the Team / Organisation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12648" y="1261872"/>
            <a:ext cx="4005072" cy="0"/>
          </a:xfrm>
          <a:prstGeom prst="line">
            <a:avLst/>
          </a:prstGeom>
          <a:ln w="8890">
            <a:solidFill>
              <a:srgbClr val="1A45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1362456"/>
            <a:ext cx="395020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defRPr sz="850">
                <a:solidFill>
                  <a:srgbClr val="334155"/>
                </a:solidFill>
                <a:latin typeface="Calibri"/>
              </a:defRPr>
            </a:pPr>
            <a:r>
              <a:t>A. Team: Binary Minds (Team Code: 1RKUPH). Chalicheemala Surya Thejas (Team Leader &amp; Technical Lead) and Gaddam Sai Santhosh (AI Systems Engineer) built the local Whisper pipeline, multimodal OCR, CTCAE engine, SSE sync and Next.js 15 workstation.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38528"/>
            <a:ext cx="395020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defRPr sz="850">
                <a:solidFill>
                  <a:srgbClr val="334155"/>
                </a:solidFill>
                <a:latin typeface="Calibri"/>
              </a:defRPr>
            </a:pPr>
            <a:r>
              <a:t>B. Doctor partner: Dr. Amrut S Kadam (Clinical Lead &amp; Inpatient Ward Attending, Victoria Hospital, Bangalore Medical College &amp; Research Institute - BMCRI). Co-designed workflows, calibrated CTCAE v5.0 thresholds, 120+ drug phonetic rules and febrile-neutropenia sentinels.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14600"/>
            <a:ext cx="395020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defRPr sz="850">
                <a:solidFill>
                  <a:srgbClr val="334155"/>
                </a:solidFill>
                <a:latin typeface="Calibri"/>
              </a:defRPr>
            </a:pPr>
            <a:r>
              <a:t>Organisation &amp; Track: Victoria Hospital, BMCRI &amp; Binary Minds | Track: Cancer · Doctor / Care Team · Doctor Productivity &amp; Knowledge Assistant.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273552"/>
            <a:ext cx="4224528" cy="272491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12648" y="3337560"/>
            <a:ext cx="400507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60" b="1" i="0">
                <a:solidFill>
                  <a:srgbClr val="1A4599"/>
                </a:solidFill>
                <a:latin typeface="Aptos"/>
              </a:rPr>
              <a:t>Problem Statement (Use Case Specific)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2648" y="3602736"/>
            <a:ext cx="4005072" cy="0"/>
          </a:xfrm>
          <a:prstGeom prst="line">
            <a:avLst/>
          </a:prstGeom>
          <a:ln w="8890">
            <a:solidFill>
              <a:srgbClr val="1A45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40080" y="3703320"/>
            <a:ext cx="395020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334155"/>
                </a:solidFill>
                <a:latin typeface="Aptos"/>
              </a:rPr>
              <a:t>Oncology ward rounds require synthesis of spoken symptoms, printed CBC sheets and cumulative toxicity calculations under time pressure.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79392"/>
            <a:ext cx="395020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334155"/>
                </a:solidFill>
                <a:latin typeface="Aptos"/>
              </a:rPr>
              <a:t>The project brief states clinicians spend over 20 minutes per patient on manual documentation and cites &gt;45% of ward hours spent on EMR data entry.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855464"/>
            <a:ext cx="395020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334155"/>
                </a:solidFill>
                <a:latin typeface="Aptos"/>
              </a:rPr>
              <a:t>Generic speech tools may misrender chemotherapy names (e.g., “fall fox” for mFOLFOX6); cloud speech creates audio privacy and recurring-cost concerns.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431536"/>
            <a:ext cx="395020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334155"/>
                </a:solidFill>
                <a:latin typeface="Aptos"/>
              </a:rPr>
              <a:t>The supplied brief cites an ~8% rise in 28-day mortality per hour of antibiotic delay in neutropenic sepsis (IDSA/ASCO 2018).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19472" y="932688"/>
            <a:ext cx="6766560" cy="194767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29200" y="996696"/>
            <a:ext cx="654710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60" b="1" i="0">
                <a:solidFill>
                  <a:srgbClr val="00843D"/>
                </a:solidFill>
                <a:latin typeface="Aptos"/>
              </a:rPr>
              <a:t>AI Solution Description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029200" y="1261872"/>
            <a:ext cx="6547104" cy="0"/>
          </a:xfrm>
          <a:prstGeom prst="line">
            <a:avLst/>
          </a:prstGeom>
          <a:ln w="8890">
            <a:solidFill>
              <a:srgbClr val="0084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056632" y="1362456"/>
            <a:ext cx="6492240" cy="14538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19" b="0" i="0">
                <a:solidFill>
                  <a:srgbClr val="334155"/>
                </a:solidFill>
                <a:latin typeface="Aptos"/>
              </a:rPr>
              <a:t>RoundsAI is a dual-tier clinical copilot connecting a Bedside Mobile Companion (/mobile) with a Doctor Assessment Station (/). Residents dictate symptoms and photograph CBC reports; audio is transcribed locally, oncology terminology is normalized, lab values are extracted, CTCAE grades and screening flags are generated, and the draft synchronizes for clinician review and attestation. A formatted note can then be copied into the EMR workflow.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19472" y="3017520"/>
            <a:ext cx="6766560" cy="1298448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029200" y="3081527"/>
            <a:ext cx="654710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60" b="1" i="0">
                <a:solidFill>
                  <a:srgbClr val="1A4599"/>
                </a:solidFill>
                <a:latin typeface="Aptos"/>
              </a:rPr>
              <a:t>Technology and Tools Used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029200" y="3346703"/>
            <a:ext cx="6547104" cy="0"/>
          </a:xfrm>
          <a:prstGeom prst="line">
            <a:avLst/>
          </a:prstGeom>
          <a:ln w="8890">
            <a:solidFill>
              <a:srgbClr val="1A45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056632" y="3447287"/>
            <a:ext cx="6492240" cy="8046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334155"/>
                </a:solidFill>
                <a:latin typeface="Aptos"/>
              </a:rPr>
              <a:t>faster-whisper base int8 (local CPU) • Gemini 2.5 Flash OCR • FastAPI / Python 3.12+ • Pydantic v2 • Next.js 15 / TypeScript / React 19 • SQLite or Supabase PostgreSQL • Server-Sent Events with 5-second polling fallback.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19472" y="4453128"/>
            <a:ext cx="6766560" cy="1545336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029200" y="4517136"/>
            <a:ext cx="654710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60" b="1" i="0">
                <a:solidFill>
                  <a:srgbClr val="00843D"/>
                </a:solidFill>
                <a:latin typeface="Aptos"/>
              </a:rPr>
              <a:t>Key Features of the Solution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029200" y="4782312"/>
            <a:ext cx="6547104" cy="0"/>
          </a:xfrm>
          <a:prstGeom prst="line">
            <a:avLst/>
          </a:prstGeom>
          <a:ln w="8890">
            <a:solidFill>
              <a:srgbClr val="0084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056632" y="4882896"/>
            <a:ext cx="6492240" cy="2121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30" b="0" i="0">
                <a:solidFill>
                  <a:srgbClr val="334155"/>
                </a:solidFill>
                <a:latin typeface="Aptos"/>
              </a:rPr>
              <a:t>Local Whisper transcription with no cloud speech audio egress.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56632" y="5122468"/>
            <a:ext cx="6492240" cy="2121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30" b="0" i="0">
                <a:solidFill>
                  <a:srgbClr val="334155"/>
                </a:solidFill>
                <a:latin typeface="Aptos"/>
              </a:rPr>
              <a:t>120+ oncology regimen / clinical phonetic normalization rules.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56632" y="5362041"/>
            <a:ext cx="6492240" cy="2121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30" b="0" i="0">
                <a:solidFill>
                  <a:srgbClr val="334155"/>
                </a:solidFill>
                <a:latin typeface="Aptos"/>
              </a:rPr>
              <a:t>Multimodal CBC OCR for ANC, platelets, WBC and hemoglobin.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56632" y="5601614"/>
            <a:ext cx="6492240" cy="2121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30" b="0" i="0">
                <a:solidFill>
                  <a:srgbClr val="334155"/>
                </a:solidFill>
                <a:latin typeface="Aptos"/>
              </a:rPr>
              <a:t>Rules-based CTCAE v5.0 grading and safety-screening sentinels for clinician review.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47488" y="5802782"/>
            <a:ext cx="6492240" cy="2121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30" b="0" i="0" dirty="0">
                <a:solidFill>
                  <a:srgbClr val="334155"/>
                </a:solidFill>
                <a:latin typeface="Aptos"/>
              </a:rPr>
              <a:t>Live bedside-to-station synchronization and one-click EMR clipboard formatting.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37744"/>
            <a:ext cx="69951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000" b="1" i="0">
                <a:solidFill>
                  <a:srgbClr val="1A4599"/>
                </a:solidFill>
                <a:latin typeface="Aptos Display"/>
              </a:rPr>
              <a:t>Binary Minds  |  RoundsAI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92440" y="173736"/>
            <a:ext cx="2606040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2100" b="1" i="0">
                <a:solidFill>
                  <a:srgbClr val="00843D"/>
                </a:solidFill>
                <a:latin typeface="Aptos Display"/>
              </a:rPr>
              <a:t>Health-a-thon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61320" y="201168"/>
            <a:ext cx="10515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2000" b="1" i="0">
                <a:solidFill>
                  <a:srgbClr val="1A4599"/>
                </a:solidFill>
                <a:latin typeface="Aptos Display"/>
              </a:rPr>
              <a:t>2026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749808"/>
            <a:ext cx="11183112" cy="0"/>
          </a:xfrm>
          <a:prstGeom prst="line">
            <a:avLst/>
          </a:prstGeom>
          <a:ln w="15240">
            <a:solidFill>
              <a:srgbClr val="1A45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927080" y="6519672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64748B"/>
                </a:solidFill>
                <a:latin typeface="Aptos"/>
              </a:rPr>
              <a:t>2 / 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932688"/>
            <a:ext cx="5577840" cy="2212848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12648" y="996696"/>
            <a:ext cx="5358383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60" b="1" i="0">
                <a:solidFill>
                  <a:srgbClr val="1A4599"/>
                </a:solidFill>
                <a:latin typeface="Aptos"/>
              </a:rPr>
              <a:t>Build Sprint Progress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12648" y="1261872"/>
            <a:ext cx="5358383" cy="0"/>
          </a:xfrm>
          <a:prstGeom prst="line">
            <a:avLst/>
          </a:prstGeom>
          <a:ln w="8890">
            <a:solidFill>
              <a:srgbClr val="1A45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1362456"/>
            <a:ext cx="5303520" cy="3456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334155"/>
                </a:solidFill>
                <a:latin typeface="Aptos"/>
              </a:rPr>
              <a:t>Week 1: FastAPI foundation, local Whisper pipeline, initial oncology phonetic dictionary.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35531"/>
            <a:ext cx="5303520" cy="3456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334155"/>
                </a:solidFill>
                <a:latin typeface="Aptos"/>
              </a:rPr>
              <a:t>Week 2: Gemini lab OCR, CTCAE v5.0 grading, bedside mobile companion.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108606"/>
            <a:ext cx="5303520" cy="3456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334155"/>
                </a:solidFill>
                <a:latin typeface="Aptos"/>
              </a:rPr>
              <a:t>Week 3: SSE live sync, longitudinal patient analytics, clinical screening sentinels.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481681"/>
            <a:ext cx="5303520" cy="3456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334155"/>
                </a:solidFill>
                <a:latin typeface="Aptos"/>
              </a:rPr>
              <a:t>Week 4: Clinical UI refinement, automated tests and Vercel monorepo configuration.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782519"/>
            <a:ext cx="5303520" cy="3456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 i="0" dirty="0">
                <a:solidFill>
                  <a:srgbClr val="334155"/>
                </a:solidFill>
                <a:latin typeface="Aptos"/>
              </a:rPr>
              <a:t>Major pivots: moved speech to local Whisper for audio privacy; added a polling fallback for roaming hospital Wi-Fi. Direct two-way HL7 FHIR write-back remains future scope.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319272"/>
            <a:ext cx="5577840" cy="267919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2648" y="3383279"/>
            <a:ext cx="5358383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60" b="1" i="0">
                <a:solidFill>
                  <a:srgbClr val="1A4599"/>
                </a:solidFill>
                <a:latin typeface="Aptos"/>
              </a:rPr>
              <a:t>User Validation and AI Evaluation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12648" y="3648456"/>
            <a:ext cx="5358383" cy="0"/>
          </a:xfrm>
          <a:prstGeom prst="line">
            <a:avLst/>
          </a:prstGeom>
          <a:ln w="8890">
            <a:solidFill>
              <a:srgbClr val="1A45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40080" y="3749039"/>
            <a:ext cx="5303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35" b="0" i="0">
                <a:solidFill>
                  <a:srgbClr val="334155"/>
                </a:solidFill>
                <a:latin typeface="Aptos"/>
              </a:rPr>
              <a:t>Automated test results reported: 88 backend pytest tests (100% pass rate) and 22 frontend tests using Node.js native test runner; frontend test runtime reported under 6.5 ms for the cited test.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325112"/>
            <a:ext cx="5303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35" b="0" i="0">
                <a:solidFill>
                  <a:srgbClr val="334155"/>
                </a:solidFill>
                <a:latin typeface="Aptos"/>
              </a:rPr>
              <a:t>Boundary case: febrile-neutropenia alert at ANC 499 cells/µL with active fever ≥38.3°C; suppression when fever is explicitly negated (“patient is afebrile”).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901183"/>
            <a:ext cx="5303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35" b="0" i="0">
                <a:solidFill>
                  <a:srgbClr val="334155"/>
                </a:solidFill>
                <a:latin typeface="Aptos"/>
              </a:rPr>
              <a:t>The brief reports tests intended to check that lab numbers are not fabricated and chemotherapy dosage values are not altered.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477255"/>
            <a:ext cx="5303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35" b="0" i="0">
                <a:solidFill>
                  <a:srgbClr val="334155"/>
                </a:solidFill>
                <a:latin typeface="Aptos"/>
              </a:rPr>
              <a:t>Doctor feedback: pre-calculated ANC nadir and CTCAE grades reduce repetitive mental math. Limitation: multi-accent speech recognition in noisy corridors requires further validation.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45352" y="932688"/>
            <a:ext cx="5440680" cy="2029968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55080" y="996696"/>
            <a:ext cx="522122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60" b="1" i="0">
                <a:solidFill>
                  <a:srgbClr val="00843D"/>
                </a:solidFill>
                <a:latin typeface="Aptos"/>
              </a:rPr>
              <a:t>Safety and Responsible AI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355080" y="1261872"/>
            <a:ext cx="5221224" cy="0"/>
          </a:xfrm>
          <a:prstGeom prst="line">
            <a:avLst/>
          </a:prstGeom>
          <a:ln w="8890">
            <a:solidFill>
              <a:srgbClr val="0084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382512" y="1362456"/>
            <a:ext cx="5166360" cy="3090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334155"/>
                </a:solidFill>
                <a:latin typeface="Aptos"/>
              </a:rPr>
              <a:t>Raw audio is transcribed locally and is not sent to external cloud speech servers.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2512" y="1698955"/>
            <a:ext cx="5166360" cy="3090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334155"/>
                </a:solidFill>
                <a:latin typeface="Aptos"/>
              </a:rPr>
              <a:t>Sentinels screen for criteria and do not diagnose, prescribe or issue autonomous orders.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82512" y="2035454"/>
            <a:ext cx="5166360" cy="3090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 i="0" dirty="0">
                <a:solidFill>
                  <a:srgbClr val="334155"/>
                </a:solidFill>
                <a:latin typeface="Aptos"/>
              </a:rPr>
              <a:t>Notes remain DRAFT until attending review, reconciliation and sign-off.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2512" y="2371953"/>
            <a:ext cx="5166360" cy="3090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334155"/>
                </a:solidFill>
                <a:latin typeface="Aptos"/>
              </a:rPr>
              <a:t>Accessibility includes high contrast, tabular numerals, keyboard focus indicators and ARIA live regions.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2643530"/>
            <a:ext cx="5166360" cy="3090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 i="0" dirty="0">
                <a:solidFill>
                  <a:srgbClr val="334155"/>
                </a:solidFill>
                <a:latin typeface="Aptos"/>
              </a:rPr>
              <a:t>Lab-sheet OCR does call an external Gemini model API; patient-identifiable images require approved privacy, consent and data-processing controls.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45352" y="3136392"/>
            <a:ext cx="5440680" cy="1920240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55080" y="3200400"/>
            <a:ext cx="522122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60" b="1" i="0">
                <a:solidFill>
                  <a:srgbClr val="1A4599"/>
                </a:solidFill>
                <a:latin typeface="Aptos"/>
              </a:rPr>
              <a:t>Deployment and Sustainability Plan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355080" y="3465576"/>
            <a:ext cx="5221224" cy="0"/>
          </a:xfrm>
          <a:prstGeom prst="line">
            <a:avLst/>
          </a:prstGeom>
          <a:ln w="8890">
            <a:solidFill>
              <a:srgbClr val="1A45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382512" y="3566160"/>
            <a:ext cx="5166360" cy="4785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30" b="0" i="0">
                <a:solidFill>
                  <a:srgbClr val="334155"/>
                </a:solidFill>
                <a:latin typeface="Aptos"/>
              </a:rPr>
              <a:t>Browser access on existing ward PCs and mobile devices; Docker-based local deployment with no dedicated GPU requirement.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82512" y="4072128"/>
            <a:ext cx="5166360" cy="4785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30" b="0" i="0">
                <a:solidFill>
                  <a:srgbClr val="334155"/>
                </a:solidFill>
                <a:latin typeface="Aptos"/>
              </a:rPr>
              <a:t>Current EMR pathway: standardized clipboard export; future scope includes HL7 FHIR resources and a SMART-on-FHIR adapter.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82512" y="4578096"/>
            <a:ext cx="5166360" cy="4785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30" b="0" i="0">
                <a:solidFill>
                  <a:srgbClr val="334155"/>
                </a:solidFill>
                <a:latin typeface="Aptos"/>
              </a:rPr>
              <a:t>Project estimates: $0 one-time setup, about $0.0008 per round, and under $20/month for a 30-bed ward at ~900 rounds/month. Assumes existing infrastructure and low-cost OCR; actual costs may vary.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45352" y="5175504"/>
            <a:ext cx="5440680" cy="822960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355080" y="5239512"/>
            <a:ext cx="522122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60" b="1" i="0">
                <a:solidFill>
                  <a:srgbClr val="00843D"/>
                </a:solidFill>
                <a:latin typeface="Aptos"/>
              </a:rPr>
              <a:t>Supporting Links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355080" y="5504688"/>
            <a:ext cx="5221224" cy="0"/>
          </a:xfrm>
          <a:prstGeom prst="line">
            <a:avLst/>
          </a:prstGeom>
          <a:ln w="8890">
            <a:solidFill>
              <a:srgbClr val="0084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355080" y="5541264"/>
            <a:ext cx="5166360" cy="4539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defRPr sz="950">
                <a:solidFill>
                  <a:srgbClr val="334155"/>
                </a:solidFill>
                <a:latin typeface="Calibri"/>
              </a:defRPr>
            </a:pPr>
            <a:r>
              <a:rPr dirty="0"/>
              <a:t>• MVP: https://rounds-ai-umber.vercel.app/</a:t>
            </a:r>
          </a:p>
          <a:p>
            <a:pPr>
              <a:defRPr sz="950">
                <a:solidFill>
                  <a:srgbClr val="334155"/>
                </a:solidFill>
                <a:latin typeface="Calibri"/>
              </a:defRPr>
            </a:pPr>
            <a:r>
              <a:rPr dirty="0"/>
              <a:t>• Video Demo Walkthrough: </a:t>
            </a:r>
            <a:r>
              <a:rPr lang="en-IN" sz="950" dirty="0">
                <a:solidFill>
                  <a:srgbClr val="334155"/>
                </a:solidFill>
                <a:latin typeface="Calibri"/>
                <a:hlinkClick r:id="rId2"/>
              </a:rPr>
              <a:t>https://youtu.be/Kia1C-a0QLk</a:t>
            </a:r>
            <a:endParaRPr dirty="0"/>
          </a:p>
          <a:p>
            <a:pPr>
              <a:defRPr sz="950">
                <a:solidFill>
                  <a:srgbClr val="334155"/>
                </a:solidFill>
                <a:latin typeface="Calibri"/>
              </a:defRPr>
            </a:pPr>
            <a:r>
              <a:rPr dirty="0"/>
              <a:t>• Other Supporting Links (GitHub): https://github.com/santhoshh005/Rounds_AI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82512" y="5833872"/>
            <a:ext cx="51663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224</TotalTime>
  <Words>820</Words>
  <Application>Microsoft Office PowerPoint</Application>
  <PresentationFormat>Widescreen</PresentationFormat>
  <Paragraphs>52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RoundsAI — Health-a-thon 2026 Two-Page Overview</dc:title>
  <dc:subject>Two-page solution brief prepared for Health-a-thon 2026</dc:subject>
  <dc:creator>Binary Minds / Gaddam Sai Santhosh</dc:creator>
  <cp:keywords/>
  <dc:description>generated using python-pptx</dc:description>
  <cp:lastModifiedBy>SAI SANTHOSH</cp:lastModifiedBy>
  <cp:revision>2</cp:revision>
  <dcterms:created xsi:type="dcterms:W3CDTF">2013-01-27T09:14:16Z</dcterms:created>
  <dcterms:modified xsi:type="dcterms:W3CDTF">2026-10-27T16:43:38Z</dcterms:modified>
  <cp:category/>
</cp:coreProperties>
</file>