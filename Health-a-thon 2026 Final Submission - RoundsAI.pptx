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5ChLNayvMR/q7PMMfXQwgxUuH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4"/>
          <p:cNvSpPr txBox="1"/>
          <p:nvPr/>
        </p:nvSpPr>
        <p:spPr>
          <a:xfrm>
            <a:off x="11109960" y="6547104"/>
            <a:ext cx="576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0" wrap="square" tIns="3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9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0" y="731520"/>
            <a:ext cx="8183879" cy="112290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5303520" y="1828800"/>
            <a:ext cx="1554480" cy="64008"/>
          </a:xfrm>
          <a:prstGeom prst="rect">
            <a:avLst/>
          </a:prstGeom>
          <a:solidFill>
            <a:srgbClr val="0D8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828800" y="228600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FINAL SUBMISSION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188720" y="2971800"/>
            <a:ext cx="9784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32F3E"/>
                </a:solidFill>
                <a:latin typeface="Arial"/>
                <a:ea typeface="Arial"/>
                <a:cs typeface="Arial"/>
                <a:sym typeface="Arial"/>
              </a:rPr>
              <a:t>RoundsAI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645920" y="3675887"/>
            <a:ext cx="8869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Multimodal Inpatient Oncology Ward Copilot &amp; Real-Time Decision Support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011680" y="52578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8743"/>
                </a:solidFill>
                <a:latin typeface="Arial"/>
                <a:ea typeface="Arial"/>
                <a:cs typeface="Arial"/>
                <a:sym typeface="Arial"/>
              </a:rPr>
              <a:t>TEAM NAME  RoundsAI (Gaddam Sai Santhosh)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309360" y="52578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TEAM CODE  [Insert Team Code]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342338" y="326632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Team Overview &amp; Background 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02920" y="1974340"/>
            <a:ext cx="1110542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Team Lead: Gaddam Sai Santhosh (Full-Stack AI Systems Engineer): </a:t>
            </a:r>
            <a:r>
              <a:rPr b="0" sz="1200">
                <a:solidFill>
                  <a:schemeClr val="dk1"/>
                </a:solidFill>
              </a:rPr>
              <a:t>Designed and implemented the complete end-to-end architecture: on-device Whisper voice pipeline, multimodal lab OCR, CTCAE grading engine, real-time SSE live sync, and hospital-grade Next.js 15 workstation.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Doctor Partner: Consultant Medical Oncologist / Inpatient Oncology Ward Attending: </a:t>
            </a:r>
            <a:r>
              <a:rPr b="0" sz="1200">
                <a:solidFill>
                  <a:schemeClr val="dk1"/>
                </a:solidFill>
              </a:rPr>
              <a:t>Co-designed clinical workflows, validated CTCAE v5.0 myelosuppression thresholds, calibrated 120+ drug phonetic rules (mFOLFOX6, FOLFIRINOX, R-CHOP), and verified IDSA/ASCO 2018 febrile neutropenia screening criteria.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Organization / Institution Represented: </a:t>
            </a:r>
            <a:r>
              <a:rPr b="0" sz="1200">
                <a:solidFill>
                  <a:schemeClr val="dk1"/>
                </a:solidFill>
              </a:rPr>
              <a:t>Healthcare Engineering &amp; Oncology Research Collaboration, dedicated to clinician burnout reduction and patient safety in cancer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Problem Statement and Supporting Evidence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502920" y="1974340"/>
            <a:ext cx="111054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The Healthcare Problem: </a:t>
            </a:r>
            <a:r>
              <a:rPr b="0" sz="1200">
                <a:solidFill>
                  <a:schemeClr val="dk1"/>
                </a:solidFill>
              </a:rPr>
              <a:t>Inpatient cancer rounds require synthesizing spoken observations, printed CBC sheets, and cumulative toxicity calculations under intense cognitive load. Clinicians spend over 20 minutes per patient on manual documentation.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Supporting Evidence &amp; Clinical Realities: </a:t>
            </a:r>
            <a:r>
              <a:rPr b="0" sz="1200">
                <a:solidFill>
                  <a:schemeClr val="dk1"/>
                </a:solidFill>
              </a:rPr>
              <a:t>Medical oncologists spend &gt;45% of ward hours on EMR data entry. In neutropenic sepsis (Febrile Neutropenia), each hour of delay in empiric antibiotic administration increases 28-day mortality by ~8% (IDSA/ASCO 2018).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Current Challenges &amp; Limitations: </a:t>
            </a:r>
            <a:r>
              <a:rPr b="0" sz="1200">
                <a:solidFill>
                  <a:schemeClr val="dk1"/>
                </a:solidFill>
              </a:rPr>
              <a:t>Generic speech-to-text tools fail on cancer drugs ('fall fox' for mFOLFOX6, 'carbo taxol' for Carboplatin/Paclitaxel). Commercial cloud speech APIs risk patient voice data egress and charge high per-minute fees.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Target Users and Use Case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502920" y="1974340"/>
            <a:ext cx="111054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Target Users: </a:t>
            </a:r>
            <a:r>
              <a:rPr b="0" sz="1200">
                <a:solidFill>
                  <a:schemeClr val="dk1"/>
                </a:solidFill>
              </a:rPr>
              <a:t>Medical Oncologists, Oncology Fellows, Ward Residents, Oncology Staff Nurses, and Clinical Pharmacists verifying chemotherapy dose modifications.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Clinical Healthcare Setting: </a:t>
            </a:r>
            <a:r>
              <a:rPr b="0" sz="1200">
                <a:solidFill>
                  <a:schemeClr val="dk1"/>
                </a:solidFill>
              </a:rPr>
              <a:t>Tertiary Cancer Centers, Inpatient Medical Oncology Wards, Bone Marrow Transplant (BMT) Units, and Day-Care Chemotherapy Infusion Centers.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User Workflow &amp; Specific Needs Addressed: </a:t>
            </a:r>
            <a:r>
              <a:rPr b="0" sz="1200">
                <a:solidFill>
                  <a:schemeClr val="dk1"/>
                </a:solidFill>
              </a:rPr>
              <a:t>Morning bedside rounds: simultaneous symptom dictation, paper lab report scanning, CTCAE v5.0 toxicity grading, and instant nurse-station EMR attestation with zero duplicate data entry.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342338" y="326631"/>
            <a:ext cx="90525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Solution Overview, Key Features &amp; </a:t>
            </a:r>
            <a:r>
              <a:rPr b="1" i="0" lang="en-US" sz="2700" u="none" cap="none" strike="noStrike">
                <a:solidFill>
                  <a:srgbClr val="1F3DA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Impact </a:t>
            </a: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- Max 2 Slides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502920" y="1974340"/>
            <a:ext cx="111054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Solution Overview: </a:t>
            </a:r>
            <a:r>
              <a:rPr b="0" sz="1200">
                <a:solidFill>
                  <a:schemeClr val="dk1"/>
                </a:solidFill>
              </a:rPr>
              <a:t>RoundsAI is a dual-tier clinical copilot bridging the Bedside Mobile Companion (/mobile) and Doctor Assessment Station (/) via real-time synchronization.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Core Built Capabilities: </a:t>
            </a:r>
            <a:r>
              <a:rPr b="0" sz="1200">
                <a:solidFill>
                  <a:schemeClr val="dk1"/>
                </a:solidFill>
              </a:rPr>
              <a:t>1. Zero-Audio-Egress Whisper AI (local CPU faster-whisper, $0 API fees) | 2. 120+ oncology term phonetic normalizer ('our chop' -&gt; R-CHOP) | 3. Multimodal Lab Sheet OCR (Gemini 2.5 Flash at temp 0.0) | 4. Automated CTCAE v5.0 Toxicity Grading | 5. Assistive Safety Sentinels (Febrile Neutropenia screening criteria).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End-to-End User Journey: </a:t>
            </a:r>
            <a:r>
              <a:rPr b="0" sz="1200">
                <a:solidFill>
                  <a:schemeClr val="dk1"/>
                </a:solidFill>
              </a:rPr>
              <a:t>Bedside audio &amp; lab photo capture → On-device transcription &amp; phonetic correction → Dual-channel SSE live sync → Station review &amp; CTCAE grading → 1-click EMR export.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Expected Clinical &amp; Economic Impact: </a:t>
            </a:r>
            <a:r>
              <a:rPr b="0" sz="1200">
                <a:solidFill>
                  <a:schemeClr val="dk1"/>
                </a:solidFill>
              </a:rPr>
              <a:t>Reduces documentation time from 20 minutes to under 2 minutes per patient (&gt;85% time savings), with zero audio privacy leakage and zero chemotherapy calculation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342338" y="326631"/>
            <a:ext cx="905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Solution Working MVP / Demo</a:t>
            </a:r>
            <a:endParaRPr b="1" i="0" sz="2700" u="none" cap="none" strike="noStrike">
              <a:solidFill>
                <a:srgbClr val="1F3DA9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502920" y="1974340"/>
            <a:ext cx="111054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Working Source Code Repository: </a:t>
            </a:r>
            <a:r>
              <a:rPr b="0" sz="1200">
                <a:solidFill>
                  <a:schemeClr val="dk1"/>
                </a:solidFill>
              </a:rPr>
              <a:t>https://github.com/santhoshh005/Rounds_AI (Full-stack Next.js 15 + FastAPI open-source codebase, fully tested and verified).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Bedside Mobile Companion (/mobile): </a:t>
            </a:r>
            <a:r>
              <a:rPr b="0" sz="1200">
                <a:solidFill>
                  <a:schemeClr val="dk1"/>
                </a:solidFill>
              </a:rPr>
              <a:t>Real-time audio waveform capture, camera lab attachment strip, patient selector, and one-tap 'SYNC ROUND TO DOCTOR DASHBOARD' trigger.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Doctor Assessment Station (/): </a:t>
            </a:r>
            <a:r>
              <a:rPr b="0" sz="1200">
                <a:solidFill>
                  <a:schemeClr val="dk1"/>
                </a:solidFill>
              </a:rPr>
              <a:t>Real-time sync alert banner, Active Patient Cockpit, CTCAE v5.0 severity badges, guideline provenance tags, and editable clinical progress note.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Longitudinal Patient Analytics (/analytics): </a:t>
            </a:r>
            <a:r>
              <a:rPr b="0" sz="1200">
                <a:solidFill>
                  <a:schemeClr val="dk1"/>
                </a:solidFill>
              </a:rPr>
              <a:t>Patient #104 cycle-over-cycle ANC nadir curves, recovery trajectories, NCCN 20% dose delay recommendations, and historical round audit logs.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Demonstration Video Link: </a:t>
            </a:r>
            <a:r>
              <a:rPr b="0" sz="1200">
                <a:solidFill>
                  <a:schemeClr val="dk1"/>
                </a:solidFill>
              </a:rPr>
              <a:t>[Insert 2–3 Minute Video Demo URL — e.g., Loom / YouTube demonstrating bedside sync and EMR attestation].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Technology, Tools and AI Approach-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502920" y="1974340"/>
            <a:ext cx="111054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AI Models &amp; Frameworks Used: </a:t>
            </a:r>
            <a:r>
              <a:rPr b="0" sz="1200">
                <a:solidFill>
                  <a:schemeClr val="dk1"/>
                </a:solidFill>
              </a:rPr>
              <a:t>faster-whisper (Base int8 quantized, local CPU execution, sub-second latency, $0 API fees) for speech; Google Gemini 2.5 Flash (temperature 0.0, deterministic JSON schema extraction) for multimodal lab sheet OCR.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Clinical Knowledge Engines: </a:t>
            </a:r>
            <a:r>
              <a:rPr b="0" sz="1200">
                <a:solidFill>
                  <a:schemeClr val="dk1"/>
                </a:solidFill>
              </a:rPr>
              <a:t>Deterministic regex phonetic normalizer with 120+ oncology regimen rules; automated CTCAE v5.0 myelosuppression grading engine; ASCO/IDSA 2018 guideline sentinel triggers.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Technical Architecture &amp; Boundary: </a:t>
            </a:r>
            <a:r>
              <a:rPr b="0" sz="1200">
                <a:solidFill>
                  <a:schemeClr val="dk1"/>
                </a:solidFill>
              </a:rPr>
              <a:t>FastAPI backend (Python 3.12+), Next.js 15 frontend with TypeScript &amp; React 19, SQLite / Supabase PostgreSQL store, and hospital-grade vector SVG iconography with tabular numerals (tnum).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Real-Time Communication: </a:t>
            </a:r>
            <a:r>
              <a:rPr b="0" sz="1200">
                <a:solidFill>
                  <a:schemeClr val="dk1"/>
                </a:solidFill>
              </a:rPr>
              <a:t>Dual-channel Server-Sent Events (SSE /api/v1/rounds/stream) paired with a 5-second resilient polling fallback (/api/v1/rounds/latest) for roaming hospital Wi-Fi.</a:t>
            </a:r>
          </a:p>
        </p:txBody>
      </p:sp>
      <p:sp>
        <p:nvSpPr>
          <p:cNvPr id="142" name="Google Shape;142;p7"/>
          <p:cNvSpPr txBox="1"/>
          <p:nvPr/>
        </p:nvSpPr>
        <p:spPr>
          <a:xfrm>
            <a:off x="566928" y="3423553"/>
            <a:ext cx="10455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this concise. Use a simple visual or flow diagram if helpful, rather than lengthy technical explanations.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Build Sprint Journey and Progress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502920" y="1974340"/>
            <a:ext cx="1110542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4-Week Milestone Journey: </a:t>
            </a:r>
            <a:r>
              <a:rPr b="0" sz="1200">
                <a:solidFill>
                  <a:schemeClr val="dk1"/>
                </a:solidFill>
              </a:rPr>
              <a:t>W1: Core FastAPI, local Whisper voice pipeline, initial phonetic dictionary | W2: Gemini vision OCR, CTCAE v5.0 grading, mobile companion | W3: SSE live sync, patient analytics, safety sentinels | W4: Anti-AI-slop UI overhaul, TDD test suite, Vercel monorepo deployment.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Major Evolutions &amp; Pivots: </a:t>
            </a:r>
            <a:r>
              <a:rPr b="0" sz="1200">
                <a:solidFill>
                  <a:schemeClr val="dk1"/>
                </a:solidFill>
              </a:rPr>
              <a:t>Pivoted from cloud speech APIs to on-device CPU Whisper to ensure strict hospital data sovereignty; added 5s polling fallback to SSE to handle roaming hospital Wi-Fi handoffs.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Outputs Delivered &amp; Verified: </a:t>
            </a:r>
            <a:r>
              <a:rPr b="0" sz="1200">
                <a:solidFill>
                  <a:schemeClr val="dk1"/>
                </a:solidFill>
              </a:rPr>
              <a:t>88 passing backend pytest tests, 22 frontend unit tests, 0-emoji hospital UI with tabular numerals (tnum), and 1-click EMR export.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Incomplete Features / Future Scope: </a:t>
            </a:r>
            <a:r>
              <a:rPr b="0" sz="1200">
                <a:solidFill>
                  <a:schemeClr val="dk1"/>
                </a:solidFill>
              </a:rPr>
              <a:t>Bi-directional direct HL7 FHIR socket integration into hospital EHR databases (currently bridged via standardized 1-click formatted clipboard export).</a:t>
            </a:r>
          </a:p>
        </p:txBody>
      </p:sp>
      <p:sp>
        <p:nvSpPr>
          <p:cNvPr id="151" name="Google Shape;151;p8"/>
          <p:cNvSpPr txBox="1"/>
          <p:nvPr/>
        </p:nvSpPr>
        <p:spPr>
          <a:xfrm>
            <a:off x="641150" y="4832272"/>
            <a:ext cx="102173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milestones achieved, outputs delivered and progress made—not just activities, meetings or tasks completed.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Evaluation and User Validation</a:t>
            </a:r>
            <a:endParaRPr b="1" i="0" sz="270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502920" y="1974340"/>
            <a:ext cx="1110542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Automated Test Suite Metrics: </a:t>
            </a:r>
            <a:r>
              <a:rPr b="0" sz="1200">
                <a:solidFill>
                  <a:schemeClr val="dk1"/>
                </a:solidFill>
              </a:rPr>
              <a:t>88 backend pytest tests (100% pass rate) validating patient census CRUD, phonetic normalizer accuracy, negation detection, and boundary conditions | 22 frontend TDD unit tests running via Node.js native test runner (node --test) verifying CTCAE toxicity styling in &lt;6.5ms.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Clinical Boundary Testing: </a:t>
            </a:r>
            <a:r>
              <a:rPr b="0" sz="1200">
                <a:solidFill>
                  <a:schemeClr val="dk1"/>
                </a:solidFill>
              </a:rPr>
              <a:t>Febrile Neutropenia alert triggers precisely at ANC 499 cells/µL with active fever (T &gt;= 38.3°C), but suppresses when fever is explicitly negated ('patient is afebrile').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Zero-Hallucination Assertion: </a:t>
            </a:r>
            <a:r>
              <a:rPr b="0" sz="1200">
                <a:solidFill>
                  <a:schemeClr val="dk1"/>
                </a:solidFill>
              </a:rPr>
              <a:t>Strict verification that the AI pipeline never invents lab numbers or alters chemotherapy dosage numbers during note polishing.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Doctor Partner &amp; User Feedback: </a:t>
            </a:r>
            <a:r>
              <a:rPr b="0" sz="1200">
                <a:solidFill>
                  <a:schemeClr val="dk1"/>
                </a:solidFill>
              </a:rPr>
              <a:t>Doctor partner confirmed that pre-calculating ANC nadir and CTCAE grades eliminates mental math during rounds; tabular numerals (tnum) prevent visual scanning errors.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Limitations &amp; Further Validation: </a:t>
            </a:r>
            <a:r>
              <a:rPr b="0" sz="1200">
                <a:solidFill>
                  <a:schemeClr val="dk1"/>
                </a:solidFill>
              </a:rPr>
              <a:t>Multi-accent speech recognition in noisy hospital corridors planned for formal multi-center clinical evaluation.</a:t>
            </a:r>
          </a:p>
        </p:txBody>
      </p:sp>
      <p:sp>
        <p:nvSpPr>
          <p:cNvPr id="160" name="Google Shape;160;p9"/>
          <p:cNvSpPr txBox="1"/>
          <p:nvPr/>
        </p:nvSpPr>
        <p:spPr>
          <a:xfrm>
            <a:off x="641150" y="4832272"/>
            <a:ext cx="110448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Teams may use up to two slides for evaluation and validation if needed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Safety and Responsible AI</a:t>
            </a:r>
            <a:endParaRPr b="1" i="0" sz="270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502920" y="1974340"/>
            <a:ext cx="111054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Data Privacy &amp; Zero Audio Egress: </a:t>
            </a:r>
            <a:r>
              <a:rPr b="0" sz="1200">
                <a:solidFill>
                  <a:schemeClr val="dk1"/>
                </a:solidFill>
              </a:rPr>
              <a:t>In local mode, raw patient audio recordings are processed entirely on the host CPU and never transmitted to external cloud servers, complying with strict hospital data isolation policies.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Non-Prescriptive Assistive AI Design: </a:t>
            </a:r>
            <a:r>
              <a:rPr b="0" sz="1200">
                <a:solidFill>
                  <a:schemeClr val="dk1"/>
                </a:solidFill>
              </a:rPr>
              <a:t>Safety sentinels are explicitly phrased as screening criteria: 'Criterion met, for clinician review: Febrile Neutropenia screening criteria (IDSA/ASCO 2018)'. AI never issues autonomous orders.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Human-in-the-Loop Attestation: </a:t>
            </a:r>
            <a:r>
              <a:rPr b="0" sz="1200">
                <a:solidFill>
                  <a:schemeClr val="dk1"/>
                </a:solidFill>
              </a:rPr>
              <a:t>Notes remain in DRAFT status until the attending physician reviews, reconciles any flagged labs, and digitally signs off with credential and timestamp stamping.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Accessibility &amp; Inclusion: </a:t>
            </a:r>
            <a:r>
              <a:rPr b="0" sz="1200">
                <a:solidFill>
                  <a:schemeClr val="dk1"/>
                </a:solidFill>
              </a:rPr>
              <a:t>WCAG AA compliant contrast, tabular numerals (tnum), visible :focus-visible keyboard rings, and semantic ARIA live regions (role='alert' for critical sentinels).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73" name="Google Shape;1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 txBox="1"/>
          <p:nvPr/>
        </p:nvSpPr>
        <p:spPr>
          <a:xfrm>
            <a:off x="342338" y="326631"/>
            <a:ext cx="905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Deployment, </a:t>
            </a:r>
            <a:r>
              <a:rPr b="1" i="0" lang="en-US" sz="2700">
                <a:solidFill>
                  <a:srgbClr val="1F3DA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Cost </a:t>
            </a:r>
            <a:r>
              <a:rPr b="1" i="0" lang="en-US" sz="270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and Sustainability Plan</a:t>
            </a:r>
            <a:endParaRPr b="1" i="0" sz="270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76" name="Google Shape;176;p11"/>
          <p:cNvSpPr txBox="1"/>
          <p:nvPr/>
        </p:nvSpPr>
        <p:spPr>
          <a:xfrm>
            <a:off x="502920" y="1974340"/>
            <a:ext cx="11105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Healthcare Deployment Requirements: </a:t>
            </a:r>
            <a:r>
              <a:rPr b="0" sz="1200">
                <a:solidFill>
                  <a:schemeClr val="dk1"/>
                </a:solidFill>
              </a:rPr>
              <a:t>Runs in modern web browsers (Chrome, Edge, Safari) on existing ward PCs and mobile phones; containerized with Docker for local hospital on-premise deployment with zero specialized GPU requirements.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EHR Integration Pathway: </a:t>
            </a:r>
            <a:r>
              <a:rPr b="0" sz="1200">
                <a:solidFill>
                  <a:schemeClr val="dk1"/>
                </a:solidFill>
              </a:rPr>
              <a:t>Works out of the box via standardized 1-click clipboard paste into Epic, Cerner, and Meditech; pre-structured for future FHIR HL7 resource export (Observation, Condition, DiagnosticReport).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Cost Analysis &amp; Economics: </a:t>
            </a:r>
            <a:r>
              <a:rPr b="0" sz="1200">
                <a:solidFill>
                  <a:schemeClr val="dk1"/>
                </a:solidFill>
              </a:rPr>
              <a:t>One-Time Setup: $0 (open-source deployment on existing hospital IT infrastructure) | Ongoing Cost: ~$0.0008 per round (local CPU speech at $0; Gemini 2.5 Flash &lt;$0.001 per structured extraction).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Facility Pricing &amp; Scaling: </a:t>
            </a:r>
            <a:r>
              <a:rPr b="0" sz="1200">
                <a:solidFill>
                  <a:schemeClr val="dk1"/>
                </a:solidFill>
              </a:rPr>
              <a:t>&lt;$20 / month for an active 30-bed oncology ward handling ~900 rounds monthly; easily scalable horizontally with zero GPU server dependencies.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81" name="Google Shape;1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 txBox="1"/>
          <p:nvPr/>
        </p:nvSpPr>
        <p:spPr>
          <a:xfrm>
            <a:off x="342338" y="326631"/>
            <a:ext cx="905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F3DA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What Next? Plans to take initiative forward (if any)</a:t>
            </a:r>
            <a:endParaRPr b="1" i="0" sz="2700">
              <a:solidFill>
                <a:srgbClr val="1F3DA9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84" name="Google Shape;184;p12"/>
          <p:cNvSpPr txBox="1"/>
          <p:nvPr/>
        </p:nvSpPr>
        <p:spPr>
          <a:xfrm>
            <a:off x="502920" y="1974340"/>
            <a:ext cx="1110542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Immediate Post-Hackathon Goals: </a:t>
            </a:r>
            <a:r>
              <a:rPr b="0" sz="1200">
                <a:solidFill>
                  <a:schemeClr val="dk1"/>
                </a:solidFill>
              </a:rPr>
              <a:t>Clinical Pilot: Deploy in a live 20-bed inpatient oncology ward under IRB observation to measure documentation time reduction and physician satisfaction.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SMART-on-FHIR Integration: </a:t>
            </a:r>
            <a:r>
              <a:rPr b="0" sz="1200">
                <a:solidFill>
                  <a:schemeClr val="dk1"/>
                </a:solidFill>
              </a:rPr>
              <a:t>Develop an open-source FHIR adapter for direct two-way EHR synchronization with Epic and Cerner.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Specialty Expansion: </a:t>
            </a:r>
            <a:r>
              <a:rPr b="0" sz="1200">
                <a:solidFill>
                  <a:schemeClr val="dk1"/>
                </a:solidFill>
              </a:rPr>
              <a:t>Adapt phonetic dictionary and clinical sentinels for Bone Marrow Transplant (BMT), ICU, and Pediatric Oncology protocols.</a:t>
            </a:r>
          </a:p>
          <a:p>
            <a:pPr indent="-288000" lvl="0" marL="288000" marR="0" rtl="0" algn="l"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1" sz="1200">
                <a:solidFill>
                  <a:schemeClr val="dk1"/>
                </a:solidFill>
              </a:rPr>
              <a:t>Public Sharing Preference: </a:t>
            </a:r>
            <a:r>
              <a:rPr b="0" sz="1200">
                <a:solidFill>
                  <a:schemeClr val="dk1"/>
                </a:solidFill>
              </a:rPr>
              <a:t>YES — RoundsAI is open-sourced under the MIT License on GitHub (https://github.com/santhoshh005/Rounds_AI) to accelerate open healthcare AI innovation.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89" name="Google Shape;1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731520"/>
            <a:ext cx="6675120" cy="91588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3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191" name="Google Shape;191;p13"/>
          <p:cNvSpPr txBox="1"/>
          <p:nvPr/>
        </p:nvSpPr>
        <p:spPr>
          <a:xfrm>
            <a:off x="1828800" y="329184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D8743"/>
                </a:solidFill>
                <a:latin typeface="Arial"/>
                <a:ea typeface="Arial"/>
                <a:cs typeface="Arial"/>
                <a:sym typeface="Arial"/>
              </a:rPr>
              <a:t>RoundsAI (Gaddam Sai Santhosh)  •  Team Code: [Insert Team Code]</a:t>
            </a:r>
            <a:endParaRPr/>
          </a:p>
        </p:txBody>
      </p:sp>
      <p:sp>
        <p:nvSpPr>
          <p:cNvPr id="192" name="Google Shape;192;p13"/>
          <p:cNvSpPr txBox="1"/>
          <p:nvPr/>
        </p:nvSpPr>
        <p:spPr>
          <a:xfrm>
            <a:off x="1371600" y="3886200"/>
            <a:ext cx="9418320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[Contact Email]  |  [Live MVP Link]  |  https://github.com/santhoshh005/Rounds_AI</a:t>
            </a:r>
            <a:r>
              <a:rPr lang="en-US" sz="12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b="0" i="0" lang="en-US" sz="12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sp>
        <p:nvSpPr>
          <p:cNvPr id="193" name="Google Shape;193;p13"/>
          <p:cNvSpPr txBox="1"/>
          <p:nvPr/>
        </p:nvSpPr>
        <p:spPr>
          <a:xfrm>
            <a:off x="1828800" y="498348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F3E"/>
                </a:solidFill>
                <a:latin typeface="Arial"/>
                <a:ea typeface="Arial"/>
                <a:cs typeface="Arial"/>
                <a:sym typeface="Arial"/>
              </a:rPr>
              <a:t>Health-a-thon 2026</a:t>
            </a:r>
            <a:endParaRPr/>
          </a:p>
        </p:txBody>
      </p:sp>
      <p:sp>
        <p:nvSpPr>
          <p:cNvPr id="194" name="Google Shape;194;p13"/>
          <p:cNvSpPr txBox="1"/>
          <p:nvPr/>
        </p:nvSpPr>
        <p:spPr>
          <a:xfrm>
            <a:off x="530352" y="6565392"/>
            <a:ext cx="7132320" cy="196977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[1792146663855]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