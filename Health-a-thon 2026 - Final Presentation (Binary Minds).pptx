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18" roundtripDataSignature="AMtx7mgAg/vdU80Kjj0BWWHcgiMiHYawZ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pc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4" name="Google Shape;84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6" name="Google Shape;9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4" name="Google Shape;10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0" name="Google Shape;12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8" name="Google Shape;12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6" name="Google Shape;14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3" name="Google Shape;163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9" name="Google Shape;179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6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6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0" name="Google Shape;20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2" name="Google Shape;32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1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8" name="Google Shape;38;p1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9" name="Google Shape;39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2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2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2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9" name="Google Shape;59;p22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0" name="Google Shape;60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3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3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6" name="Google Shape;66;p23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4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5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5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9" name="Google Shape;79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pc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pc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pc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pc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pc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pc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pc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" name="Google Shape;11;p14"/>
          <p:cNvSpPr/>
          <p:nvPr/>
        </p:nvSpPr>
        <p:spPr>
          <a:xfrm>
            <a:off x="502920" y="6510528"/>
            <a:ext cx="11183112" cy="10972"/>
          </a:xfrm>
          <a:prstGeom prst="rect">
            <a:avLst/>
          </a:prstGeom>
          <a:solidFill>
            <a:srgbClr val="E2E8E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12;p14"/>
          <p:cNvSpPr txBox="1"/>
          <p:nvPr/>
        </p:nvSpPr>
        <p:spPr>
          <a:xfrm>
            <a:off x="11109960" y="6547104"/>
            <a:ext cx="5760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0" spcFirstLastPara="1" rIns="0" wrap="square" tIns="3657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b="1" i="0" lang="en-US" spc="0" sz="900" u="none" cap="none" strike="noStrike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1" i="0" spc="0" sz="9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(3).png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11680" y="731520"/>
            <a:ext cx="8183879" cy="1122904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/>
          <p:nvPr/>
        </p:nvSpPr>
        <p:spPr>
          <a:xfrm>
            <a:off x="5303520" y="1828800"/>
            <a:ext cx="1554480" cy="64008"/>
          </a:xfrm>
          <a:prstGeom prst="rect">
            <a:avLst/>
          </a:prstGeom>
          <a:solidFill>
            <a:srgbClr val="0D874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pc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1828800" y="2286000"/>
            <a:ext cx="8503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36575" lIns="36575" spcFirstLastPara="1" rIns="36575" wrap="square" tIns="36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pc="0" sz="1800" u="none" cap="none" strike="noStrike">
                <a:solidFill>
                  <a:srgbClr val="1F3DA9"/>
                </a:solidFill>
                <a:latin typeface="Arial"/>
                <a:ea typeface="Arial"/>
                <a:cs typeface="Arial"/>
                <a:sym typeface="Arial"/>
              </a:rPr>
              <a:t>FINAL SUBMISSION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1188720" y="2971800"/>
            <a:ext cx="97840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sz="3600" b="1" i="0">
                <a:solidFill>
                  <a:srgbClr val="1A4599"/>
                </a:solidFill>
                <a:latin typeface="Aptos Display"/>
              </a:rPr>
              <a:t>RoundsAI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1645920" y="3675887"/>
            <a:ext cx="88696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sz="1700" b="0" i="0">
                <a:solidFill>
                  <a:srgbClr val="0F172A"/>
                </a:solidFill>
                <a:latin typeface="Aptos"/>
              </a:rPr>
              <a:t>Multimodal Inpatient Oncology Ward Copilot &amp; Real-Time Decision Support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2011680" y="5257800"/>
            <a:ext cx="3931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100" b="1" i="0">
                <a:solidFill>
                  <a:srgbClr val="00843D"/>
                </a:solidFill>
                <a:latin typeface="Aptos"/>
              </a:rPr>
              <a:t>TEAM NAME  Binary Minds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6309360" y="5257800"/>
            <a:ext cx="3840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r>
              <a:t>TEAM CODE  1RKUPH</a:t>
            </a:r>
          </a:p>
        </p:txBody>
      </p:sp>
      <p:sp>
        <p:nvSpPr>
          <p:cNvPr id="93" name="Google Shape;93;p1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50" b="0" i="0">
                <a:solidFill>
                  <a:srgbClr val="64748B"/>
                </a:solidFill>
                <a:latin typeface="Aptos"/>
              </a:rPr>
              <a:t>HEALTH-A-THON 2026  •  PHASE 2 FINAL SUBMISSION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(3).png" id="98" name="Google Shape;98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2"/>
          <p:cNvSpPr txBox="1"/>
          <p:nvPr/>
        </p:nvSpPr>
        <p:spPr>
          <a:xfrm>
            <a:off x="342338" y="326632"/>
            <a:ext cx="90525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sz="2600" b="1" i="0">
                <a:solidFill>
                  <a:srgbClr val="1A4599"/>
                </a:solidFill>
                <a:latin typeface="Aptos Display"/>
              </a:rPr>
              <a:t>Team Overview &amp; Background</a:t>
            </a:r>
            <a:endParaRPr b="1" i="0" spc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50" b="0" i="0">
                <a:solidFill>
                  <a:srgbClr val="64748B"/>
                </a:solidFill>
                <a:latin typeface="Aptos"/>
              </a:rPr>
              <a:t>HEALTH-A-THON 2026  •  FINAL SUBMISSION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530352" y="832104"/>
            <a:ext cx="1060704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4748B"/>
                </a:solidFill>
                <a:latin typeface="Aptos"/>
              </a:rPr>
              <a:t>Technical ownership paired with oncology workflow collaboration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66928" y="1417320"/>
            <a:ext cx="5440680" cy="2331720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576072" y="1508760"/>
            <a:ext cx="50292" cy="2148839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22376" y="1527048"/>
            <a:ext cx="516636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ENGINEERING TEAM  |  Binary Minds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22376" y="1883664"/>
            <a:ext cx="5102352" cy="17556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defRPr sz="1050">
                <a:solidFill>
                  <a:srgbClr val="334155"/>
                </a:solidFill>
                <a:latin typeface="Calibri"/>
              </a:defRPr>
            </a:pPr>
            <a:r>
              <a:t>•  Chalicheemala Surya Thejas — Team Leader &amp; Technical Lead (Full-stack architecture &amp; systems deployment).</a:t>
            </a:r>
          </a:p>
          <a:p>
            <a:pPr>
              <a:defRPr sz="1050">
                <a:solidFill>
                  <a:srgbClr val="334155"/>
                </a:solidFill>
                <a:latin typeface="Calibri"/>
              </a:defRPr>
            </a:pPr>
            <a:r>
              <a:t>•  Gaddam Sai Santhosh — Full-Stack AI Systems Engineer (Local Whisper voice pipeline, Gemini lab OCR, CTCAE v5.0 engine, SSE live sync &amp; Next.js 15 workstation).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199632" y="1417320"/>
            <a:ext cx="5440680" cy="2331720"/>
          </a:xfrm>
          <a:prstGeom prst="roundRect">
            <a:avLst/>
          </a:prstGeom>
          <a:solidFill>
            <a:srgbClr val="F0FDFA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208776" y="1508760"/>
            <a:ext cx="50292" cy="2148839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55080" y="1527048"/>
            <a:ext cx="516636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/>
              </a:defRPr>
            </a:pPr>
            <a:r>
              <a:t>DOCTOR PARTNER  |  Dr. Amrut S Kadam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55080" y="1883664"/>
            <a:ext cx="5102352" cy="17556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defRPr sz="1050">
                <a:solidFill>
                  <a:srgbClr val="334155"/>
                </a:solidFill>
                <a:latin typeface="Calibri"/>
              </a:defRPr>
            </a:pPr>
            <a:r>
              <a:t>•  Clinical Lead &amp; Inpatient Ward Attending, Victoria Hospital, Bangalore Medical College &amp; Research Institute (BMCRI).</a:t>
            </a:r>
          </a:p>
          <a:p>
            <a:pPr>
              <a:defRPr sz="1050">
                <a:solidFill>
                  <a:srgbClr val="334155"/>
                </a:solidFill>
                <a:latin typeface="Calibri"/>
              </a:defRPr>
            </a:pPr>
            <a:r>
              <a:t>•  Co-designed clinical ward workflows, verified CTCAE v5.0 myelosuppression criteria and 120+ drug phonetic normalization rules.</a:t>
            </a:r>
          </a:p>
          <a:p>
            <a:pPr>
              <a:defRPr sz="1050">
                <a:solidFill>
                  <a:srgbClr val="334155"/>
                </a:solidFill>
                <a:latin typeface="Calibri"/>
              </a:defRPr>
            </a:pPr>
            <a:r>
              <a:t>•  Reviewed IDSA/ASCO 2018 febrile-neutropenia screening sentinels and clinical risk boundaries.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566928" y="3950208"/>
            <a:ext cx="11073384" cy="1298448"/>
          </a:xfrm>
          <a:prstGeom prst="roundRect">
            <a:avLst/>
          </a:prstGeom>
          <a:solidFill>
            <a:srgbClr val="F8FAFC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76072" y="4041648"/>
            <a:ext cx="50292" cy="1115568"/>
          </a:xfrm>
          <a:prstGeom prst="rect">
            <a:avLst/>
          </a:prstGeom>
          <a:solidFill>
            <a:srgbClr val="00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22376" y="4059936"/>
            <a:ext cx="10799063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Calibri"/>
              </a:defRPr>
            </a:pPr>
            <a:r>
              <a:t>ORGANISATION, CLINICAL SETTING &amp; TRACK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" y="4416552"/>
            <a:ext cx="10735056" cy="722376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 Institution: Victoria Hospital, Bangalore Medical College &amp; Research Institute (BMCRI) &amp; Binary Minds.</a:t>
            </a:r>
          </a:p>
          <a:p>
            <a:pPr>
              <a:defRPr sz="1100">
                <a:solidFill>
                  <a:srgbClr val="334155"/>
                </a:solidFill>
                <a:latin typeface="Calibri"/>
              </a:defRPr>
            </a:pPr>
            <a:r>
              <a:t>•  Track: Cancer · Doctor / Care Team · Doctor Productivity &amp; Knowledge Assistant (Health-a-thon 2026).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58368" y="5596128"/>
            <a:ext cx="2057400" cy="310896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85800" y="5609844"/>
            <a:ext cx="2002536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1A4599"/>
                </a:solidFill>
                <a:latin typeface="Aptos"/>
              </a:rPr>
              <a:t>ACADEMIC + CLINICAL INPUT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880360" y="5596128"/>
            <a:ext cx="8503920" cy="3840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00" b="0" i="1">
                <a:solidFill>
                  <a:srgbClr val="64748B"/>
                </a:solidFill>
                <a:latin typeface="Aptos"/>
              </a:rPr>
              <a:t>Clinical thresholds and workflows should be confirmed by the hospital’s clinical governance team before live use.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(3).png" id="106" name="Google Shape;106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3"/>
          <p:cNvSpPr txBox="1"/>
          <p:nvPr/>
        </p:nvSpPr>
        <p:spPr>
          <a:xfrm>
            <a:off x="342338" y="326631"/>
            <a:ext cx="90525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sz="2400" b="1" i="0">
                <a:solidFill>
                  <a:srgbClr val="1A4599"/>
                </a:solidFill>
                <a:latin typeface="Aptos Display"/>
              </a:rPr>
              <a:t>Problem Statement and Supporting Evidence</a:t>
            </a:r>
            <a:endParaRPr b="1" i="0" spc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3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50" b="0" i="0">
                <a:solidFill>
                  <a:srgbClr val="64748B"/>
                </a:solidFill>
                <a:latin typeface="Aptos"/>
              </a:rPr>
              <a:t>HEALTH-A-THON 2026  •  FINAL SUBMISSION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530352" y="832104"/>
            <a:ext cx="1060704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4748B"/>
                </a:solidFill>
                <a:latin typeface="Aptos"/>
              </a:rPr>
              <a:t>Inpatient oncology rounds combine fragmented inputs with time-critical decisions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566928" y="1417320"/>
            <a:ext cx="3566160" cy="1965960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76072" y="1508760"/>
            <a:ext cx="50292" cy="17830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22376" y="1527048"/>
            <a:ext cx="329184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F172A"/>
                </a:solidFill>
                <a:latin typeface="Aptos"/>
              </a:rPr>
              <a:t>DOCUMENTATION BURDEN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" y="1883664"/>
            <a:ext cx="3227832" cy="138988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20" b="0" i="0">
                <a:solidFill>
                  <a:srgbClr val="334155"/>
                </a:solidFill>
                <a:latin typeface="Aptos"/>
              </a:rPr>
              <a:t>Clinicians may spend over 20 minutes per patient synthesizing spoken observations, printed CBC sheets, cumulative toxicity calculations, and EMR documentation.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315968" y="1417320"/>
            <a:ext cx="3566160" cy="1965960"/>
          </a:xfrm>
          <a:prstGeom prst="roundRect">
            <a:avLst/>
          </a:prstGeom>
          <a:solidFill>
            <a:srgbClr val="FFFBEB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325112" y="1508760"/>
            <a:ext cx="50292" cy="17830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71416" y="1527048"/>
            <a:ext cx="329184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F172A"/>
                </a:solidFill>
                <a:latin typeface="Aptos"/>
              </a:rPr>
              <a:t>TIME-CRITICAL ESCALATION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471416" y="1883664"/>
            <a:ext cx="3227832" cy="138988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60" b="0" i="0">
                <a:solidFill>
                  <a:srgbClr val="334155"/>
                </a:solidFill>
                <a:latin typeface="Aptos"/>
              </a:rPr>
              <a:t>The project brief cites &gt;45% of ward hours spent on EMR entry and reports an ~8% increase in 28-day mortality per hour of delay in empiric antibiotics for neutropenic sepsis (IDSA/ASCO 2018).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065008" y="1417320"/>
            <a:ext cx="3566160" cy="1965960"/>
          </a:xfrm>
          <a:prstGeom prst="roundRect">
            <a:avLst/>
          </a:prstGeom>
          <a:solidFill>
            <a:srgbClr val="FEF2F2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074152" y="1508760"/>
            <a:ext cx="50292" cy="178308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220456" y="1527048"/>
            <a:ext cx="329184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F172A"/>
                </a:solidFill>
                <a:latin typeface="Aptos"/>
              </a:rPr>
              <a:t>DICTATION &amp; PRIVACY GAPS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220456" y="1883664"/>
            <a:ext cx="3227832" cy="138988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334155"/>
                </a:solidFill>
                <a:latin typeface="Aptos"/>
              </a:rPr>
              <a:t>Generic speech tools can misrender regimens (“fall fox” for mFOLFOX6; “carbo taxol” for Carboplatin/Paclitaxel). Cloud speech APIs also create voice-data egress and recurring-cost concerns.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58368" y="3767328"/>
            <a:ext cx="1051560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1A4599"/>
                </a:solidFill>
                <a:latin typeface="Aptos"/>
              </a:rPr>
              <a:t>CURRENT ROUND DOCUMENTATION FLOW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85800" y="4187952"/>
            <a:ext cx="2322576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795528" y="4361688"/>
            <a:ext cx="438912" cy="274320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22960" y="4375403"/>
            <a:ext cx="38404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1A4599"/>
                </a:solidFill>
                <a:latin typeface="Aptos"/>
              </a:rPr>
              <a:t>01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325880" y="4334256"/>
            <a:ext cx="1572768" cy="3474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20" b="1" i="0">
                <a:solidFill>
                  <a:srgbClr val="0F172A"/>
                </a:solidFill>
                <a:latin typeface="Aptos"/>
              </a:rPr>
              <a:t>Spoken symptoms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090672" y="4370832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0284C7"/>
                </a:solidFill>
                <a:latin typeface="Aptos"/>
              </a:rPr>
              <a:t>→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3547872" y="4187952"/>
            <a:ext cx="2322576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3657600" y="4361688"/>
            <a:ext cx="438912" cy="274320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685032" y="4375403"/>
            <a:ext cx="38404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1A4599"/>
                </a:solidFill>
                <a:latin typeface="Aptos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187952" y="4334256"/>
            <a:ext cx="1572768" cy="3474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20" b="1" i="0">
                <a:solidFill>
                  <a:srgbClr val="0F172A"/>
                </a:solidFill>
                <a:latin typeface="Aptos"/>
              </a:rPr>
              <a:t>Printed CBC sheet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952744" y="4370832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0284C7"/>
                </a:solidFill>
                <a:latin typeface="Aptos"/>
              </a:rPr>
              <a:t>→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409944" y="4187952"/>
            <a:ext cx="2322576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6519672" y="4361688"/>
            <a:ext cx="438912" cy="274320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547104" y="4375403"/>
            <a:ext cx="38404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1A4599"/>
                </a:solidFill>
                <a:latin typeface="Aptos"/>
              </a:rPr>
              <a:t>03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050024" y="4334256"/>
            <a:ext cx="1572768" cy="3474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20" b="1" i="0">
                <a:solidFill>
                  <a:srgbClr val="0F172A"/>
                </a:solidFill>
                <a:latin typeface="Aptos"/>
              </a:rPr>
              <a:t>Toxicity calculations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14816" y="4370832"/>
            <a:ext cx="320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0284C7"/>
                </a:solidFill>
                <a:latin typeface="Aptos"/>
              </a:rPr>
              <a:t>→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9272016" y="4187952"/>
            <a:ext cx="2322576" cy="86868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ounded Rectangle 138"/>
          <p:cNvSpPr/>
          <p:nvPr/>
        </p:nvSpPr>
        <p:spPr>
          <a:xfrm>
            <a:off x="9381744" y="4361688"/>
            <a:ext cx="438912" cy="274320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409176" y="4375403"/>
            <a:ext cx="38404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1A4599"/>
                </a:solidFill>
                <a:latin typeface="Aptos"/>
              </a:rPr>
              <a:t>04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912096" y="4334256"/>
            <a:ext cx="1572768" cy="3474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20" b="1" i="0">
                <a:solidFill>
                  <a:srgbClr val="0F172A"/>
                </a:solidFill>
                <a:latin typeface="Aptos"/>
              </a:rPr>
              <a:t>EMR note entry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85800" y="5413248"/>
            <a:ext cx="10881360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F172A"/>
                </a:solidFill>
                <a:latin typeface="Aptos"/>
              </a:rPr>
              <a:t>Need: reduce repetitive data entry and terminology errors while preserving traceability, clinician review, and final sign-off.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85800" y="5961888"/>
            <a:ext cx="10881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1">
                <a:solidFill>
                  <a:srgbClr val="64748B"/>
                </a:solidFill>
                <a:latin typeface="Aptos"/>
              </a:rPr>
              <a:t>Evidence figures are reproduced from the team’s project brief and should be independently validated before external claims.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(3).png" id="114" name="Google Shape;114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4"/>
          <p:cNvSpPr txBox="1"/>
          <p:nvPr/>
        </p:nvSpPr>
        <p:spPr>
          <a:xfrm>
            <a:off x="342338" y="326631"/>
            <a:ext cx="90525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sz="2600" b="1" i="0">
                <a:solidFill>
                  <a:srgbClr val="1A4599"/>
                </a:solidFill>
                <a:latin typeface="Aptos Display"/>
              </a:rPr>
              <a:t>Target Users and Use Case</a:t>
            </a:r>
            <a:endParaRPr b="1" i="0" spc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4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50" b="0" i="0">
                <a:solidFill>
                  <a:srgbClr val="64748B"/>
                </a:solidFill>
                <a:latin typeface="Aptos"/>
              </a:rPr>
              <a:t>HEALTH-A-THON 2026  •  FINAL SUBMISSION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TextBox 116"/>
          <p:cNvSpPr txBox="1"/>
          <p:nvPr/>
        </p:nvSpPr>
        <p:spPr>
          <a:xfrm>
            <a:off x="530352" y="832104"/>
            <a:ext cx="1060704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4748B"/>
                </a:solidFill>
                <a:latin typeface="Aptos"/>
              </a:rPr>
              <a:t>Designed for inpatient oncology workflows, not autonomous diagnosis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66928" y="1417320"/>
            <a:ext cx="5440680" cy="3127248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76072" y="1508760"/>
            <a:ext cx="50292" cy="294436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22376" y="1527048"/>
            <a:ext cx="516636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F172A"/>
                </a:solidFill>
                <a:latin typeface="Aptos"/>
              </a:rPr>
              <a:t>PRIMARY USERS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22376" y="1883664"/>
            <a:ext cx="5102352" cy="255117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334155"/>
                </a:solidFill>
                <a:latin typeface="Aptos"/>
              </a:rPr>
              <a:t>•  Medical oncologists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334155"/>
                </a:solidFill>
                <a:latin typeface="Aptos"/>
              </a:rPr>
              <a:t>•  Oncology fellows and ward residents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334155"/>
                </a:solidFill>
                <a:latin typeface="Aptos"/>
              </a:rPr>
              <a:t>•  Oncology staff nurses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334155"/>
                </a:solidFill>
                <a:latin typeface="Aptos"/>
              </a:rPr>
              <a:t>•  Clinical pharmacists verifying chemotherapy dose modifications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199632" y="1417320"/>
            <a:ext cx="5440680" cy="3127248"/>
          </a:xfrm>
          <a:prstGeom prst="roundRect">
            <a:avLst/>
          </a:prstGeom>
          <a:solidFill>
            <a:srgbClr val="F0FDFA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208776" y="1508760"/>
            <a:ext cx="50292" cy="294436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355080" y="1527048"/>
            <a:ext cx="516636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F172A"/>
                </a:solidFill>
                <a:latin typeface="Aptos"/>
              </a:rPr>
              <a:t>WORKFLOW &amp; NEEDS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355080" y="1883664"/>
            <a:ext cx="5102352" cy="255117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20">
                <a:solidFill>
                  <a:srgbClr val="334155"/>
                </a:solidFill>
                <a:latin typeface="Aptos"/>
              </a:rPr>
              <a:t>•  Morning bedside rounds with simultaneous symptom capture and lab-sheet scanning.</a:t>
            </a:r>
          </a:p>
          <a:p>
            <a:pPr>
              <a:spcAft>
                <a:spcPts val="400"/>
              </a:spcAft>
            </a:pPr>
            <a:r>
              <a:rPr sz="1120">
                <a:solidFill>
                  <a:srgbClr val="334155"/>
                </a:solidFill>
                <a:latin typeface="Aptos"/>
              </a:rPr>
              <a:t>•  Convert spoken observations into a structured draft note.</a:t>
            </a:r>
          </a:p>
          <a:p>
            <a:pPr>
              <a:spcAft>
                <a:spcPts val="400"/>
              </a:spcAft>
            </a:pPr>
            <a:r>
              <a:rPr sz="1120">
                <a:solidFill>
                  <a:srgbClr val="334155"/>
                </a:solidFill>
                <a:latin typeface="Aptos"/>
              </a:rPr>
              <a:t>•  Pre-calculate CTCAE v5.0 toxicity grades and show safety-screening flags for clinician review.</a:t>
            </a:r>
          </a:p>
          <a:p>
            <a:pPr>
              <a:spcAft>
                <a:spcPts val="400"/>
              </a:spcAft>
            </a:pPr>
            <a:r>
              <a:rPr sz="1120">
                <a:solidFill>
                  <a:srgbClr val="334155"/>
                </a:solidFill>
                <a:latin typeface="Aptos"/>
              </a:rPr>
              <a:t>•  Synchronize to the doctor station and support formatted EMR transfer without duplicate re-entry.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66928" y="4828032"/>
            <a:ext cx="11073384" cy="868680"/>
          </a:xfrm>
          <a:prstGeom prst="roundRect">
            <a:avLst/>
          </a:prstGeom>
          <a:solidFill>
            <a:srgbClr val="0F172A"/>
          </a:solidFill>
          <a:ln w="1143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22960" y="5020056"/>
            <a:ext cx="1965960" cy="22860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7DD3FC"/>
                </a:solidFill>
                <a:latin typeface="Aptos"/>
              </a:rPr>
              <a:t>INTENDED SETTING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743200" y="4983480"/>
            <a:ext cx="8503920" cy="34747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30" b="1" i="0">
                <a:solidFill>
                  <a:srgbClr val="FFFFFF"/>
                </a:solidFill>
                <a:latin typeface="Aptos"/>
              </a:rPr>
              <a:t>Tertiary cancer centers  •  Inpatient medical oncology wards  •  BMT units  •  Day-care chemotherapy infusion centers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(3).png" id="122" name="Google Shape;1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5"/>
          <p:cNvSpPr txBox="1"/>
          <p:nvPr/>
        </p:nvSpPr>
        <p:spPr>
          <a:xfrm>
            <a:off x="342338" y="326631"/>
            <a:ext cx="90525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sz="2400" b="1" i="0">
                <a:solidFill>
                  <a:srgbClr val="1A4599"/>
                </a:solidFill>
                <a:latin typeface="Aptos Display"/>
              </a:rPr>
              <a:t>Solution Overview, Key Features &amp; Impact</a:t>
            </a:r>
            <a:endParaRPr b="1" i="0" spc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5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50" b="0" i="0">
                <a:solidFill>
                  <a:srgbClr val="64748B"/>
                </a:solidFill>
                <a:latin typeface="Aptos"/>
              </a:rPr>
              <a:t>HEALTH-A-THON 2026  •  FINAL SUBMISSION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TextBox 124"/>
          <p:cNvSpPr txBox="1"/>
          <p:nvPr/>
        </p:nvSpPr>
        <p:spPr>
          <a:xfrm>
            <a:off x="530352" y="832104"/>
            <a:ext cx="1060704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4748B"/>
                </a:solidFill>
                <a:latin typeface="Aptos"/>
              </a:rPr>
              <a:t>A dual-tier copilot connects bedside capture to a doctor assessment station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66928" y="1325880"/>
            <a:ext cx="11073384" cy="704088"/>
          </a:xfrm>
          <a:prstGeom prst="roundRect">
            <a:avLst/>
          </a:prstGeom>
          <a:solidFill>
            <a:srgbClr val="0F172A"/>
          </a:solidFill>
          <a:ln w="1143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22960" y="1499616"/>
            <a:ext cx="10515600" cy="329184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RoundsAI transforms bedside audio and paper CBC reports into a structured, evidence-linked draft note for clinician review.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94360" y="2267712"/>
            <a:ext cx="2743200" cy="1234440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603504" y="2359152"/>
            <a:ext cx="50292" cy="105156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49808" y="2377440"/>
            <a:ext cx="246888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30" b="1" i="0">
                <a:solidFill>
                  <a:srgbClr val="0F172A"/>
                </a:solidFill>
                <a:latin typeface="Aptos"/>
              </a:rPr>
              <a:t>BEDSIDE MOBILE  /mobile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49808" y="2734056"/>
            <a:ext cx="2404872" cy="658367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334155"/>
                </a:solidFill>
                <a:latin typeface="Aptos"/>
              </a:rPr>
              <a:t>Dictate symptoms • photograph CBC • transmit round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709160" y="2267712"/>
            <a:ext cx="2743200" cy="1234440"/>
          </a:xfrm>
          <a:prstGeom prst="roundRect">
            <a:avLst/>
          </a:prstGeom>
          <a:solidFill>
            <a:srgbClr val="F0FDFA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4718304" y="2359152"/>
            <a:ext cx="50292" cy="10515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864608" y="2377440"/>
            <a:ext cx="246888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30" b="1" i="0">
                <a:solidFill>
                  <a:srgbClr val="0F172A"/>
                </a:solidFill>
                <a:latin typeface="Aptos"/>
              </a:rPr>
              <a:t>LOCAL PROCESSING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864608" y="2734056"/>
            <a:ext cx="2404872" cy="658367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40" b="0" i="0">
                <a:solidFill>
                  <a:srgbClr val="334155"/>
                </a:solidFill>
                <a:latin typeface="Aptos"/>
              </a:rPr>
              <a:t>Whisper transcription • oncology term normalization • OCR extraction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823960" y="2267712"/>
            <a:ext cx="2743200" cy="1234440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8833104" y="2359152"/>
            <a:ext cx="50292" cy="1051560"/>
          </a:xfrm>
          <a:prstGeom prst="rect">
            <a:avLst/>
          </a:prstGeom>
          <a:solidFill>
            <a:srgbClr val="00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979408" y="2377440"/>
            <a:ext cx="246888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30" b="1" i="0">
                <a:solidFill>
                  <a:srgbClr val="0F172A"/>
                </a:solidFill>
                <a:latin typeface="Aptos"/>
              </a:rPr>
              <a:t>DOCTOR STATION  /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979408" y="2734056"/>
            <a:ext cx="2404872" cy="658367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40" b="0" i="0">
                <a:solidFill>
                  <a:srgbClr val="334155"/>
                </a:solidFill>
                <a:latin typeface="Aptos"/>
              </a:rPr>
              <a:t>Cockpit alert • CTCAE badges • editable note • attestation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429000" y="2679192"/>
            <a:ext cx="1115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0284C7"/>
                </a:solidFill>
                <a:latin typeface="Aptos"/>
              </a:rPr>
              <a:t>→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543800" y="2679192"/>
            <a:ext cx="11155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284C7"/>
                </a:solidFill>
                <a:latin typeface="Aptos"/>
              </a:rPr>
              <a:t>SSE / polling →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66928" y="3822191"/>
            <a:ext cx="2029968" cy="123444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685800" y="3968496"/>
            <a:ext cx="384048" cy="256032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13232" y="3982211"/>
            <a:ext cx="32918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869" b="1" i="0">
                <a:solidFill>
                  <a:srgbClr val="1A4599"/>
                </a:solidFill>
                <a:latin typeface="Aptos"/>
              </a:rPr>
              <a:t>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85800" y="4325112"/>
            <a:ext cx="18013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F172A"/>
                </a:solidFill>
                <a:latin typeface="Aptos"/>
              </a:rPr>
              <a:t>Local Whisper AI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85800" y="4626864"/>
            <a:ext cx="1801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69" b="0" i="0">
                <a:solidFill>
                  <a:srgbClr val="334155"/>
                </a:solidFill>
                <a:latin typeface="Aptos"/>
              </a:rPr>
              <a:t>faster-whisper base int8; audio stays on device.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2798064" y="3822191"/>
            <a:ext cx="2029968" cy="123444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2916936" y="3968496"/>
            <a:ext cx="384048" cy="256032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944368" y="3982211"/>
            <a:ext cx="32918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869" b="1" i="0">
                <a:solidFill>
                  <a:srgbClr val="1A4599"/>
                </a:solidFill>
                <a:latin typeface="Aptos"/>
              </a:rPr>
              <a:t>02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916936" y="4325112"/>
            <a:ext cx="18013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F172A"/>
                </a:solidFill>
                <a:latin typeface="Aptos"/>
              </a:rPr>
              <a:t>120+ term normalizer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916936" y="4626864"/>
            <a:ext cx="1801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69" b="0" i="0">
                <a:solidFill>
                  <a:srgbClr val="334155"/>
                </a:solidFill>
                <a:latin typeface="Aptos"/>
              </a:rPr>
              <a:t>Corrects oncology regimen and clinical phrases.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5029200" y="3822191"/>
            <a:ext cx="2029968" cy="123444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5148072" y="3968496"/>
            <a:ext cx="384048" cy="256032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175504" y="3982211"/>
            <a:ext cx="32918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869" b="1" i="0">
                <a:solidFill>
                  <a:srgbClr val="1A4599"/>
                </a:solidFill>
                <a:latin typeface="Aptos"/>
              </a:rPr>
              <a:t>03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148072" y="4325112"/>
            <a:ext cx="18013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F172A"/>
                </a:solidFill>
                <a:latin typeface="Aptos"/>
              </a:rPr>
              <a:t>Lab-sheet OCR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148072" y="4626864"/>
            <a:ext cx="1801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69" b="0" i="0">
                <a:solidFill>
                  <a:srgbClr val="334155"/>
                </a:solidFill>
                <a:latin typeface="Aptos"/>
              </a:rPr>
              <a:t>Gemini 2.5 Flash extracts CBC values.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7260336" y="3822191"/>
            <a:ext cx="2029968" cy="123444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7379208" y="3968496"/>
            <a:ext cx="384048" cy="256032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7406640" y="3982211"/>
            <a:ext cx="32918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869" b="1" i="0">
                <a:solidFill>
                  <a:srgbClr val="1A4599"/>
                </a:solidFill>
                <a:latin typeface="Aptos"/>
              </a:rPr>
              <a:t>04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379208" y="4325112"/>
            <a:ext cx="18013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F172A"/>
                </a:solidFill>
                <a:latin typeface="Aptos"/>
              </a:rPr>
              <a:t>CTCAE v5.0 grading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7379208" y="4626864"/>
            <a:ext cx="1801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69" b="0" i="0">
                <a:solidFill>
                  <a:srgbClr val="334155"/>
                </a:solidFill>
                <a:latin typeface="Aptos"/>
              </a:rPr>
              <a:t>Rules-based myelosuppression severity indicators.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9491472" y="3822191"/>
            <a:ext cx="2029968" cy="123444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9610344" y="3968496"/>
            <a:ext cx="384048" cy="256032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637776" y="3982211"/>
            <a:ext cx="32918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869" b="1" i="0">
                <a:solidFill>
                  <a:srgbClr val="1A4599"/>
                </a:solidFill>
                <a:latin typeface="Aptos"/>
              </a:rPr>
              <a:t>05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610344" y="4325112"/>
            <a:ext cx="18013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F172A"/>
                </a:solidFill>
                <a:latin typeface="Aptos"/>
              </a:rPr>
              <a:t>Safety sentinels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610344" y="4626864"/>
            <a:ext cx="1801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69" b="0" i="0">
                <a:solidFill>
                  <a:srgbClr val="334155"/>
                </a:solidFill>
                <a:latin typeface="Aptos"/>
              </a:rPr>
              <a:t>Flags febrile-neutropenia criteria for review.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58368" y="5376672"/>
            <a:ext cx="10881360" cy="53035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F172A"/>
                </a:solidFill>
                <a:latin typeface="Aptos"/>
              </a:rPr>
              <a:t>Project-reported impact: documentation time from 20 minutes to under 2 minutes per patient (&gt;85% time savings). Notes remain drafts until the attending reviews and attests.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58368" y="5943600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1" i="0">
                <a:solidFill>
                  <a:srgbClr val="B91C1C"/>
                </a:solidFill>
                <a:latin typeface="Aptos"/>
              </a:rPr>
              <a:t>Raw audio is local; lab-image OCR calls Gemini 2.5 Flash and requires approved data-handling controls.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(3).png" id="130" name="Google Shape;13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7"/>
          <p:cNvSpPr txBox="1"/>
          <p:nvPr/>
        </p:nvSpPr>
        <p:spPr>
          <a:xfrm>
            <a:off x="342338" y="326631"/>
            <a:ext cx="90525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sz="2500" b="1" i="0">
                <a:solidFill>
                  <a:srgbClr val="1A4599"/>
                </a:solidFill>
                <a:latin typeface="Aptos Display"/>
              </a:rPr>
              <a:t>Technology, Tools and AI Approach</a:t>
            </a:r>
            <a:endParaRPr b="1" i="0" spc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7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50" b="0" i="0">
                <a:solidFill>
                  <a:srgbClr val="64748B"/>
                </a:solidFill>
                <a:latin typeface="Aptos"/>
              </a:rPr>
              <a:t>HEALTH-A-THON 2026  •  FINAL SUBMISSION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TextBox 132"/>
          <p:cNvSpPr txBox="1"/>
          <p:nvPr/>
        </p:nvSpPr>
        <p:spPr>
          <a:xfrm>
            <a:off x="530352" y="832104"/>
            <a:ext cx="1060704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4748B"/>
                </a:solidFill>
                <a:latin typeface="Aptos"/>
              </a:rPr>
              <a:t>Local-first speech, structured extraction, deterministic rules, and resilient live updates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758952" y="1389888"/>
            <a:ext cx="10652760" cy="566928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87552" y="152704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19" b="1" i="0">
                <a:solidFill>
                  <a:srgbClr val="0284C7"/>
                </a:solidFill>
                <a:latin typeface="Aptos"/>
              </a:rPr>
              <a:t>INPUT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62072" y="1508760"/>
            <a:ext cx="821131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20" b="1" i="0">
                <a:solidFill>
                  <a:srgbClr val="0F172A"/>
                </a:solidFill>
                <a:latin typeface="Aptos"/>
              </a:rPr>
              <a:t>Bedside browser • audio capture • CBC photo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760720" y="1929384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284C7"/>
                </a:solidFill>
                <a:latin typeface="Aptos"/>
              </a:rPr>
              <a:t>↓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758952" y="2157984"/>
            <a:ext cx="10652760" cy="566928"/>
          </a:xfrm>
          <a:prstGeom prst="roundRect">
            <a:avLst/>
          </a:prstGeom>
          <a:solidFill>
            <a:srgbClr val="F0FDFA"/>
          </a:solidFill>
          <a:ln w="11430">
            <a:solidFill>
              <a:srgbClr val="F0FD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987552" y="229514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19" b="1" i="0">
                <a:solidFill>
                  <a:srgbClr val="0D9488"/>
                </a:solidFill>
                <a:latin typeface="Aptos"/>
              </a:rPr>
              <a:t>AI / EXTRACTION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862072" y="2276856"/>
            <a:ext cx="821131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20" b="1" i="0">
                <a:solidFill>
                  <a:srgbClr val="0F172A"/>
                </a:solidFill>
                <a:latin typeface="Aptos"/>
              </a:rPr>
              <a:t>faster-whisper base int8 (local CPU) • Gemini 2.5 Flash OCR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760720" y="2697479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284C7"/>
                </a:solidFill>
                <a:latin typeface="Aptos"/>
              </a:rPr>
              <a:t>↓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758952" y="2926080"/>
            <a:ext cx="10652760" cy="566928"/>
          </a:xfrm>
          <a:prstGeom prst="roundRect">
            <a:avLst/>
          </a:prstGeom>
          <a:solidFill>
            <a:srgbClr val="F8FAFC"/>
          </a:solidFill>
          <a:ln w="11430"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987552" y="306324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19" b="1" i="0">
                <a:solidFill>
                  <a:srgbClr val="1A4599"/>
                </a:solidFill>
                <a:latin typeface="Aptos"/>
              </a:rPr>
              <a:t>CLINICAL RULES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862072" y="3044952"/>
            <a:ext cx="821131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20" b="1" i="0">
                <a:solidFill>
                  <a:srgbClr val="0F172A"/>
                </a:solidFill>
                <a:latin typeface="Aptos"/>
              </a:rPr>
              <a:t>120+ phonetic rules • CTCAE v5.0 grading • IDSA/ASCO 2018 sentinels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760720" y="3465576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284C7"/>
                </a:solidFill>
                <a:latin typeface="Aptos"/>
              </a:rPr>
              <a:t>↓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758952" y="3694176"/>
            <a:ext cx="10652760" cy="566928"/>
          </a:xfrm>
          <a:prstGeom prst="roundRect">
            <a:avLst/>
          </a:prstGeom>
          <a:solidFill>
            <a:srgbClr val="F8FAFC"/>
          </a:solidFill>
          <a:ln w="11430"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987552" y="3831336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19" b="1" i="0">
                <a:solidFill>
                  <a:srgbClr val="0F172A"/>
                </a:solidFill>
                <a:latin typeface="Aptos"/>
              </a:rPr>
              <a:t>API &amp; DATA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862072" y="3813048"/>
            <a:ext cx="821131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20" b="1" i="0">
                <a:solidFill>
                  <a:srgbClr val="0F172A"/>
                </a:solidFill>
                <a:latin typeface="Aptos"/>
              </a:rPr>
              <a:t>FastAPI • Python 3.12+ • Pydantic v2 • SQLite / Supabase PostgreSQL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760720" y="4233672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0284C7"/>
                </a:solidFill>
                <a:latin typeface="Aptos"/>
              </a:rPr>
              <a:t>↓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758952" y="4462272"/>
            <a:ext cx="10652760" cy="566928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987552" y="459943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19" b="1" i="0">
                <a:solidFill>
                  <a:srgbClr val="0284C7"/>
                </a:solidFill>
                <a:latin typeface="Aptos"/>
              </a:rPr>
              <a:t>LIVE SYNC &amp; UI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862072" y="4581144"/>
            <a:ext cx="821131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20" b="1" i="0">
                <a:solidFill>
                  <a:srgbClr val="0F172A"/>
                </a:solidFill>
                <a:latin typeface="Aptos"/>
              </a:rPr>
              <a:t>SSE /api/v1/rounds/stream + 5-second polling • Next.js 15 • TypeScript • React 19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77240" y="5486400"/>
            <a:ext cx="10698480" cy="4846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19" b="1" i="0">
                <a:solidFill>
                  <a:srgbClr val="B91C1C"/>
                </a:solidFill>
                <a:latin typeface="Aptos"/>
              </a:rPr>
              <a:t>Architecture boundary: raw voice is transcribed locally; lab-sheet OCR uses an external model API. Patient-identifiable images should only be sent when hospital policy, consent, and data-processing controls permit.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(3).png" id="139" name="Google Shape;13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8"/>
          <p:cNvSpPr txBox="1"/>
          <p:nvPr/>
        </p:nvSpPr>
        <p:spPr>
          <a:xfrm>
            <a:off x="342338" y="326631"/>
            <a:ext cx="90525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sz="2500" b="1" i="0">
                <a:solidFill>
                  <a:srgbClr val="1A4599"/>
                </a:solidFill>
                <a:latin typeface="Aptos Display"/>
              </a:rPr>
              <a:t>Build Sprint Journey and Progress</a:t>
            </a:r>
            <a:endParaRPr b="1" i="0" spc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8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50" b="0" i="0">
                <a:solidFill>
                  <a:srgbClr val="64748B"/>
                </a:solidFill>
                <a:latin typeface="Aptos"/>
              </a:rPr>
              <a:t>HEALTH-A-THON 2026  •  FINAL SUBMISSION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TextBox 141"/>
          <p:cNvSpPr txBox="1"/>
          <p:nvPr/>
        </p:nvSpPr>
        <p:spPr>
          <a:xfrm>
            <a:off x="530352" y="832104"/>
            <a:ext cx="1060704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4748B"/>
                </a:solidFill>
                <a:latin typeface="Aptos"/>
              </a:rPr>
              <a:t>Four weeks of implementation, pivots, and delivered functionality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566928" y="1481328"/>
            <a:ext cx="2542032" cy="18288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ounded Rectangle 143"/>
          <p:cNvSpPr/>
          <p:nvPr/>
        </p:nvSpPr>
        <p:spPr>
          <a:xfrm>
            <a:off x="694944" y="1636776"/>
            <a:ext cx="841248" cy="274320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22376" y="1650492"/>
            <a:ext cx="786384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880" b="1" i="0">
                <a:solidFill>
                  <a:srgbClr val="1A4599"/>
                </a:solidFill>
                <a:latin typeface="Aptos"/>
              </a:rPr>
              <a:t>WEEK 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94944" y="2057400"/>
            <a:ext cx="22677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F172A"/>
                </a:solidFill>
                <a:latin typeface="Aptos"/>
              </a:rPr>
              <a:t>Core backend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94944" y="2487168"/>
            <a:ext cx="226771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19" b="0" i="0">
                <a:solidFill>
                  <a:srgbClr val="334155"/>
                </a:solidFill>
                <a:latin typeface="Aptos"/>
              </a:rPr>
              <a:t>FastAPI foundation, local Whisper voice pipeline, initial oncology phonetic dictionary.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3383280" y="1481328"/>
            <a:ext cx="2542032" cy="18288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3511296" y="1636776"/>
            <a:ext cx="841248" cy="274320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538728" y="1650492"/>
            <a:ext cx="786384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880" b="1" i="0">
                <a:solidFill>
                  <a:srgbClr val="1A4599"/>
                </a:solidFill>
                <a:latin typeface="Aptos"/>
              </a:rPr>
              <a:t>WEEK 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511296" y="2057400"/>
            <a:ext cx="22677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F172A"/>
                </a:solidFill>
                <a:latin typeface="Aptos"/>
              </a:rPr>
              <a:t>Multimodal capture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511296" y="2487168"/>
            <a:ext cx="226771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19" b="0" i="0">
                <a:solidFill>
                  <a:srgbClr val="334155"/>
                </a:solidFill>
                <a:latin typeface="Aptos"/>
              </a:rPr>
              <a:t>Gemini vision OCR, CTCAE v5.0 grading logic, bedside mobile companion.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199632" y="1481328"/>
            <a:ext cx="2542032" cy="18288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6327648" y="1636776"/>
            <a:ext cx="841248" cy="274320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55080" y="1650492"/>
            <a:ext cx="786384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880" b="1" i="0">
                <a:solidFill>
                  <a:srgbClr val="1A4599"/>
                </a:solidFill>
                <a:latin typeface="Aptos"/>
              </a:rPr>
              <a:t>WEEK 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327648" y="2057400"/>
            <a:ext cx="22677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F172A"/>
                </a:solidFill>
                <a:latin typeface="Aptos"/>
              </a:rPr>
              <a:t>Live workflow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327648" y="2487168"/>
            <a:ext cx="226771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19" b="0" i="0">
                <a:solidFill>
                  <a:srgbClr val="334155"/>
                </a:solidFill>
                <a:latin typeface="Aptos"/>
              </a:rPr>
              <a:t>SSE synchronization, patient analytics, clinical screening sentinels.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9015984" y="1481328"/>
            <a:ext cx="2542032" cy="18288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9144000" y="1636776"/>
            <a:ext cx="841248" cy="274320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9171432" y="1650492"/>
            <a:ext cx="786384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880" b="1" i="0">
                <a:solidFill>
                  <a:srgbClr val="1A4599"/>
                </a:solidFill>
                <a:latin typeface="Aptos"/>
              </a:rPr>
              <a:t>WEEK 4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144000" y="2057400"/>
            <a:ext cx="22677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F172A"/>
                </a:solidFill>
                <a:latin typeface="Aptos"/>
              </a:rPr>
              <a:t>Hardening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144000" y="2487168"/>
            <a:ext cx="226771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19" b="0" i="0">
                <a:solidFill>
                  <a:srgbClr val="334155"/>
                </a:solidFill>
                <a:latin typeface="Aptos"/>
              </a:rPr>
              <a:t>Clinical UI overhaul, tests, and Vercel monorepo deployment configuration.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66928" y="3611880"/>
            <a:ext cx="5440680" cy="1353312"/>
          </a:xfrm>
          <a:prstGeom prst="roundRect">
            <a:avLst/>
          </a:prstGeom>
          <a:solidFill>
            <a:srgbClr val="F0FDFA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76072" y="3703320"/>
            <a:ext cx="50292" cy="1170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722376" y="3721608"/>
            <a:ext cx="516636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F172A"/>
                </a:solidFill>
                <a:latin typeface="Aptos"/>
              </a:rPr>
              <a:t>MAJOR EVOLUTIONS &amp; PIVOTS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22376" y="4078224"/>
            <a:ext cx="5102352" cy="7772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40">
                <a:solidFill>
                  <a:srgbClr val="334155"/>
                </a:solidFill>
                <a:latin typeface="Aptos"/>
              </a:rPr>
              <a:t>•  Replaced cloud speech APIs with on-device Whisper for local audio privacy.</a:t>
            </a:r>
          </a:p>
          <a:p>
            <a:pPr>
              <a:spcAft>
                <a:spcPts val="200"/>
              </a:spcAft>
            </a:pPr>
            <a:r>
              <a:rPr sz="1040">
                <a:solidFill>
                  <a:srgbClr val="334155"/>
                </a:solidFill>
                <a:latin typeface="Aptos"/>
              </a:rPr>
              <a:t>•  Added a 5-second polling fallback to SSE for roaming hospital Wi-Fi.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6199632" y="3611880"/>
            <a:ext cx="5440680" cy="1353312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6208776" y="3703320"/>
            <a:ext cx="50292" cy="1170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355080" y="3721608"/>
            <a:ext cx="516636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0F172A"/>
                </a:solidFill>
                <a:latin typeface="Aptos"/>
              </a:rPr>
              <a:t>OUTPUTS DELIVERED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355080" y="4078224"/>
            <a:ext cx="5102352" cy="7772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40">
                <a:solidFill>
                  <a:srgbClr val="334155"/>
                </a:solidFill>
                <a:latin typeface="Aptos"/>
              </a:rPr>
              <a:t>•  88 backend pytest tests reported passing; 22 frontend unit tests.</a:t>
            </a:r>
          </a:p>
          <a:p>
            <a:pPr>
              <a:spcAft>
                <a:spcPts val="200"/>
              </a:spcAft>
            </a:pPr>
            <a:r>
              <a:rPr sz="1040">
                <a:solidFill>
                  <a:srgbClr val="334155"/>
                </a:solidFill>
                <a:latin typeface="Aptos"/>
              </a:rPr>
              <a:t>•  Structured note formatting, clinical UI with tabular numerals, and 1-click EMR clipboard export.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85800" y="5321808"/>
            <a:ext cx="10789920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80" b="1" i="0">
                <a:solidFill>
                  <a:srgbClr val="B45309"/>
                </a:solidFill>
                <a:latin typeface="Aptos"/>
              </a:rPr>
              <a:t>Incomplete / future scope: bi-directional HL7 FHIR integration with hospital EHR databases; current workflow uses standardized clipboard export.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(3).png" id="148" name="Google Shape;14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9"/>
          <p:cNvSpPr txBox="1"/>
          <p:nvPr/>
        </p:nvSpPr>
        <p:spPr>
          <a:xfrm>
            <a:off x="342338" y="326631"/>
            <a:ext cx="90525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sz="2600" b="1" i="0">
                <a:solidFill>
                  <a:srgbClr val="1A4599"/>
                </a:solidFill>
                <a:latin typeface="Aptos Display"/>
              </a:rPr>
              <a:t>Evaluation and User Validation</a:t>
            </a:r>
            <a:endParaRPr b="1" i="0" spc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9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50" b="0" i="0">
                <a:solidFill>
                  <a:srgbClr val="64748B"/>
                </a:solidFill>
                <a:latin typeface="Aptos"/>
              </a:rPr>
              <a:t>HEALTH-A-THON 2026  •  FINAL SUBMISSION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530352" y="832104"/>
            <a:ext cx="1060704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4748B"/>
                </a:solidFill>
                <a:latin typeface="Aptos"/>
              </a:rPr>
              <a:t>Automated verification results and clinical workflow feedback reported by the team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566928" y="1417320"/>
            <a:ext cx="2542032" cy="112471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704088" y="1554480"/>
            <a:ext cx="2267712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0284C7"/>
                </a:solidFill>
                <a:latin typeface="Aptos"/>
              </a:rPr>
              <a:t>88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704088" y="1938528"/>
            <a:ext cx="22677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60" b="1" i="0">
                <a:solidFill>
                  <a:srgbClr val="0F172A"/>
                </a:solidFill>
                <a:latin typeface="Aptos"/>
              </a:rPr>
              <a:t>Backend pytest tests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704088" y="2176272"/>
            <a:ext cx="22677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64748B"/>
                </a:solidFill>
                <a:latin typeface="Aptos"/>
              </a:rPr>
              <a:t>100% pass rate reported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3383280" y="1417320"/>
            <a:ext cx="2542032" cy="112471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3520440" y="1554480"/>
            <a:ext cx="2267712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0D9488"/>
                </a:solidFill>
                <a:latin typeface="Aptos"/>
              </a:rPr>
              <a:t>22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520440" y="1938528"/>
            <a:ext cx="22677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60" b="1" i="0">
                <a:solidFill>
                  <a:srgbClr val="0F172A"/>
                </a:solidFill>
                <a:latin typeface="Aptos"/>
              </a:rPr>
              <a:t>Frontend unit tests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520440" y="2176272"/>
            <a:ext cx="22677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64748B"/>
                </a:solidFill>
                <a:latin typeface="Aptos"/>
              </a:rPr>
              <a:t>Node.js native test runner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199632" y="1417320"/>
            <a:ext cx="2542032" cy="112471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336792" y="1554480"/>
            <a:ext cx="2267712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B45309"/>
                </a:solidFill>
                <a:latin typeface="Aptos"/>
              </a:rPr>
              <a:t>&lt;6.5 ms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36792" y="1938528"/>
            <a:ext cx="22677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60" b="1" i="0">
                <a:solidFill>
                  <a:srgbClr val="0F172A"/>
                </a:solidFill>
                <a:latin typeface="Aptos"/>
              </a:rPr>
              <a:t>Frontend test runtime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336792" y="2176272"/>
            <a:ext cx="22677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64748B"/>
                </a:solidFill>
                <a:latin typeface="Aptos"/>
              </a:rPr>
              <a:t>Reported test execution timing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9015984" y="1417320"/>
            <a:ext cx="2542032" cy="112471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9153144" y="1554480"/>
            <a:ext cx="2267712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200" b="1" i="0">
                <a:solidFill>
                  <a:srgbClr val="B91C1C"/>
                </a:solidFill>
                <a:latin typeface="Aptos"/>
              </a:rPr>
              <a:t>ANC 499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153144" y="1938528"/>
            <a:ext cx="22677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60" b="1" i="0">
                <a:solidFill>
                  <a:srgbClr val="0F172A"/>
                </a:solidFill>
                <a:latin typeface="Aptos"/>
              </a:rPr>
              <a:t>Boundary scenario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153144" y="2176272"/>
            <a:ext cx="22677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64748B"/>
                </a:solidFill>
                <a:latin typeface="Aptos"/>
              </a:rPr>
              <a:t>Active fever ≥38.3°C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566928" y="2761488"/>
            <a:ext cx="5440680" cy="1600200"/>
          </a:xfrm>
          <a:prstGeom prst="roundRect">
            <a:avLst/>
          </a:prstGeom>
          <a:solidFill>
            <a:srgbClr val="FEF2F2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576072" y="2852928"/>
            <a:ext cx="50292" cy="1417320"/>
          </a:xfrm>
          <a:prstGeom prst="rect">
            <a:avLst/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22376" y="2871216"/>
            <a:ext cx="516636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30" b="1" i="0">
                <a:solidFill>
                  <a:srgbClr val="0F172A"/>
                </a:solidFill>
                <a:latin typeface="Aptos"/>
              </a:rPr>
              <a:t>CLINICAL BOUNDARY &amp; DATA INTEGRITY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722376" y="3227832"/>
            <a:ext cx="5102352" cy="1024127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10">
                <a:solidFill>
                  <a:srgbClr val="334155"/>
                </a:solidFill>
                <a:latin typeface="Aptos"/>
              </a:rPr>
              <a:t>•  Febrile-neutropenia sentinel reportedly triggers at ANC 499 cells/µL with active fever ≥38.3°C and suppresses when fever is negated (“patient is afebrile”).</a:t>
            </a:r>
          </a:p>
          <a:p>
            <a:pPr>
              <a:spcAft>
                <a:spcPts val="200"/>
              </a:spcAft>
            </a:pPr>
            <a:r>
              <a:rPr sz="1010">
                <a:solidFill>
                  <a:srgbClr val="334155"/>
                </a:solidFill>
                <a:latin typeface="Aptos"/>
              </a:rPr>
              <a:t>•  Tests reportedly verify that lab numbers are not fabricated and chemotherapy dosage values are not changed during note polishing.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99632" y="2761488"/>
            <a:ext cx="5440680" cy="1600200"/>
          </a:xfrm>
          <a:prstGeom prst="roundRect">
            <a:avLst/>
          </a:prstGeom>
          <a:solidFill>
            <a:srgbClr val="F0FDFA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208776" y="2852928"/>
            <a:ext cx="50292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55080" y="2871216"/>
            <a:ext cx="516636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30" b="1" i="0">
                <a:solidFill>
                  <a:srgbClr val="0F172A"/>
                </a:solidFill>
                <a:latin typeface="Aptos"/>
              </a:rPr>
              <a:t>DOCTOR PARTNER FEEDBACK &amp; LIMITATIONS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355080" y="3227832"/>
            <a:ext cx="5102352" cy="1024127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10">
                <a:solidFill>
                  <a:srgbClr val="334155"/>
                </a:solidFill>
                <a:latin typeface="Aptos"/>
              </a:rPr>
              <a:t>•  Pre-calculated ANC nadir and CTCAE grades were described as reducing repetitive mental math during rounds.</a:t>
            </a:r>
          </a:p>
          <a:p>
            <a:pPr>
              <a:spcAft>
                <a:spcPts val="200"/>
              </a:spcAft>
            </a:pPr>
            <a:r>
              <a:rPr sz="1010">
                <a:solidFill>
                  <a:srgbClr val="334155"/>
                </a:solidFill>
                <a:latin typeface="Aptos"/>
              </a:rPr>
              <a:t>•  Tabular numerals support scanning; multi-accent recognition in noisy corridors remains planned for further validation.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58368" y="4828032"/>
            <a:ext cx="10881360" cy="56692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0F172A"/>
                </a:solidFill>
                <a:latin typeface="Aptos"/>
              </a:rPr>
              <a:t>The project brief reports the above tests and feedback. Automated tests are not clinical validation; thresholds, edge cases, workflow fit, and safety must be evaluated with qualified clinicians.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(3).png" id="157" name="Google Shape;157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0"/>
          <p:cNvSpPr txBox="1"/>
          <p:nvPr/>
        </p:nvSpPr>
        <p:spPr>
          <a:xfrm>
            <a:off x="342338" y="326631"/>
            <a:ext cx="905256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sz="2600" b="1" i="0">
                <a:solidFill>
                  <a:srgbClr val="1A4599"/>
                </a:solidFill>
                <a:latin typeface="Aptos Display"/>
              </a:rPr>
              <a:t>Safety and Responsible AI</a:t>
            </a:r>
            <a:endParaRPr b="1" i="0" spc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10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50" b="0" i="0">
                <a:solidFill>
                  <a:srgbClr val="64748B"/>
                </a:solidFill>
                <a:latin typeface="Aptos"/>
              </a:rPr>
              <a:t>HEALTH-A-THON 2026  •  FINAL SUBMISSION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530352" y="832104"/>
            <a:ext cx="1060704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4748B"/>
                </a:solidFill>
                <a:latin typeface="Aptos"/>
              </a:rPr>
              <a:t>Assistive workflows with explicit clinician ownership and a clear privacy boundary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566928" y="1417320"/>
            <a:ext cx="5440680" cy="1417320"/>
          </a:xfrm>
          <a:prstGeom prst="roundRect">
            <a:avLst/>
          </a:prstGeom>
          <a:solidFill>
            <a:srgbClr val="F0FDFA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576072" y="1508760"/>
            <a:ext cx="50292" cy="1234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722376" y="1527048"/>
            <a:ext cx="516636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F172A"/>
                </a:solidFill>
                <a:latin typeface="Aptos"/>
              </a:rPr>
              <a:t>DATA PRIVACY &amp; LOCAL AUDIO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722376" y="1883664"/>
            <a:ext cx="5102352" cy="8412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334155"/>
                </a:solidFill>
                <a:latin typeface="Aptos"/>
              </a:rPr>
              <a:t>In local mode, raw patient audio is processed on the host CPU and not sent to external cloud speech servers.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6199632" y="1417320"/>
            <a:ext cx="5440680" cy="1417320"/>
          </a:xfrm>
          <a:prstGeom prst="roundRect">
            <a:avLst/>
          </a:prstGeom>
          <a:solidFill>
            <a:srgbClr val="FFFBEB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6208776" y="1508760"/>
            <a:ext cx="50292" cy="123444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355080" y="1527048"/>
            <a:ext cx="516636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F172A"/>
                </a:solidFill>
                <a:latin typeface="Aptos"/>
              </a:rPr>
              <a:t>NON-PRESCRIPTIVE SENTINELS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355080" y="1883664"/>
            <a:ext cx="5102352" cy="84124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334155"/>
                </a:solidFill>
                <a:latin typeface="Aptos"/>
              </a:rPr>
              <a:t>Flags are phrased as screening criteria for clinician review; the AI does not issue autonomous orders.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566928" y="2999232"/>
            <a:ext cx="5440680" cy="1417320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576072" y="3090672"/>
            <a:ext cx="50292" cy="123444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722376" y="3108960"/>
            <a:ext cx="516636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F172A"/>
                </a:solidFill>
                <a:latin typeface="Aptos"/>
              </a:rPr>
              <a:t>HUMAN-IN-THE-LOOP ATTESTATION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22376" y="3465576"/>
            <a:ext cx="5102352" cy="841247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334155"/>
                </a:solidFill>
                <a:latin typeface="Aptos"/>
              </a:rPr>
              <a:t>Notes remain in DRAFT until the attending reviews findings, reconciles flagged labs, and signs with credentials and timestamp.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199632" y="2999232"/>
            <a:ext cx="5440680" cy="1417320"/>
          </a:xfrm>
          <a:prstGeom prst="roundRect">
            <a:avLst/>
          </a:prstGeom>
          <a:solidFill>
            <a:srgbClr val="F0FDFA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6208776" y="3090672"/>
            <a:ext cx="50292" cy="1234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6355080" y="3108960"/>
            <a:ext cx="516636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F172A"/>
                </a:solidFill>
                <a:latin typeface="Aptos"/>
              </a:rPr>
              <a:t>ACCESSIBILITY &amp; INCLUSION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355080" y="3465576"/>
            <a:ext cx="5102352" cy="841247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334155"/>
                </a:solidFill>
                <a:latin typeface="Aptos"/>
              </a:rPr>
              <a:t>The project specifies high-contrast UI, tabular numerals, visible keyboard focus, and semantic ARIA live regions for critical alerts.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566928" y="4736592"/>
            <a:ext cx="11073384" cy="841248"/>
          </a:xfrm>
          <a:prstGeom prst="roundRect">
            <a:avLst/>
          </a:prstGeom>
          <a:solidFill>
            <a:srgbClr val="FEF2F2"/>
          </a:solidFill>
          <a:ln w="1143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804672" y="4937760"/>
            <a:ext cx="10561320" cy="438912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B91C1C"/>
                </a:solidFill>
                <a:latin typeface="Aptos"/>
              </a:rPr>
              <a:t>Important boundary: lab-sheet OCR uses Gemini 2.5 Flash. Only process patient-identifiable images when institutional privacy, consent, security, and data-processing requirements are satisfied.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(3).png" id="165" name="Google Shape;165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1"/>
          <p:cNvSpPr txBox="1"/>
          <p:nvPr/>
        </p:nvSpPr>
        <p:spPr>
          <a:xfrm>
            <a:off x="342338" y="326631"/>
            <a:ext cx="90525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sz="2400" b="1" i="0">
                <a:solidFill>
                  <a:srgbClr val="1A4599"/>
                </a:solidFill>
                <a:latin typeface="Aptos Display"/>
              </a:rPr>
              <a:t>Deployment, Cost and Sustainability Plan</a:t>
            </a:r>
            <a:endParaRPr b="1" i="0" spc="0" sz="2700" u="none" cap="none" strike="noStrike">
              <a:solidFill>
                <a:srgbClr val="1F3DA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11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50" b="0" i="0">
                <a:solidFill>
                  <a:srgbClr val="64748B"/>
                </a:solidFill>
                <a:latin typeface="Aptos"/>
              </a:rPr>
              <a:t>HEALTH-A-THON 2026  •  FINAL SUBMISSION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TextBox 167"/>
          <p:cNvSpPr txBox="1"/>
          <p:nvPr/>
        </p:nvSpPr>
        <p:spPr>
          <a:xfrm>
            <a:off x="530352" y="832104"/>
            <a:ext cx="1060704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4748B"/>
                </a:solidFill>
                <a:latin typeface="Aptos"/>
              </a:rPr>
              <a:t>A lightweight browser-based workflow designed for existing hospital devices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566928" y="1417320"/>
            <a:ext cx="5440680" cy="1353312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576072" y="1508760"/>
            <a:ext cx="50292" cy="117043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722376" y="1527048"/>
            <a:ext cx="516636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F172A"/>
                </a:solidFill>
                <a:latin typeface="Aptos"/>
              </a:rPr>
              <a:t>DEPLOYMENT MODEL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22376" y="1883664"/>
            <a:ext cx="5102352" cy="7772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80">
                <a:solidFill>
                  <a:srgbClr val="334155"/>
                </a:solidFill>
                <a:latin typeface="Aptos"/>
              </a:rPr>
              <a:t>•  Modern browsers on ward PCs and mobile devices.</a:t>
            </a:r>
          </a:p>
          <a:p>
            <a:pPr>
              <a:spcAft>
                <a:spcPts val="200"/>
              </a:spcAft>
            </a:pPr>
            <a:r>
              <a:rPr sz="1080">
                <a:solidFill>
                  <a:srgbClr val="334155"/>
                </a:solidFill>
                <a:latin typeface="Aptos"/>
              </a:rPr>
              <a:t>•  Docker-based on-premise deployment; no dedicated GPU required.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199632" y="1417320"/>
            <a:ext cx="5440680" cy="1353312"/>
          </a:xfrm>
          <a:prstGeom prst="roundRect">
            <a:avLst/>
          </a:prstGeom>
          <a:solidFill>
            <a:srgbClr val="F0FDFA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6208776" y="1508760"/>
            <a:ext cx="50292" cy="11704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6355080" y="1527048"/>
            <a:ext cx="5166360" cy="32004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0F172A"/>
                </a:solidFill>
                <a:latin typeface="Aptos"/>
              </a:rPr>
              <a:t>EHR INTEGRATION PATHWAY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355080" y="1883664"/>
            <a:ext cx="5102352" cy="7772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80">
                <a:solidFill>
                  <a:srgbClr val="334155"/>
                </a:solidFill>
                <a:latin typeface="Aptos"/>
              </a:rPr>
              <a:t>•  One-click clipboard export into existing Epic, Cerner, or Meditech workflow.</a:t>
            </a:r>
          </a:p>
          <a:p>
            <a:pPr>
              <a:spcAft>
                <a:spcPts val="200"/>
              </a:spcAft>
            </a:pPr>
            <a:r>
              <a:rPr sz="1080">
                <a:solidFill>
                  <a:srgbClr val="334155"/>
                </a:solidFill>
                <a:latin typeface="Aptos"/>
              </a:rPr>
              <a:t>•  Future FHIR HL7 export for Observation, Condition, and DiagnosticReport.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58368" y="3035808"/>
            <a:ext cx="10881360" cy="2743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1A4599"/>
                </a:solidFill>
                <a:latin typeface="Aptos"/>
              </a:rPr>
              <a:t>PROJECTED COST MODEL  |  Estimates from the supplied project brief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566928" y="3493008"/>
            <a:ext cx="3456432" cy="1225296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31520" y="3657600"/>
            <a:ext cx="31272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0" b="1" i="0">
                <a:solidFill>
                  <a:srgbClr val="64748B"/>
                </a:solidFill>
                <a:latin typeface="Aptos"/>
              </a:rPr>
              <a:t>ONE-TIME SETUP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31520" y="3968496"/>
            <a:ext cx="312724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400" b="1" i="0">
                <a:solidFill>
                  <a:srgbClr val="0F172A"/>
                </a:solidFill>
                <a:latin typeface="Aptos"/>
              </a:rPr>
              <a:t>$0*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4315968" y="3493008"/>
            <a:ext cx="3456432" cy="1225296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4480559" y="3657600"/>
            <a:ext cx="31272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0" b="1" i="0">
                <a:solidFill>
                  <a:srgbClr val="64748B"/>
                </a:solidFill>
                <a:latin typeface="Aptos"/>
              </a:rPr>
              <a:t>COST PER ROUND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480559" y="3968496"/>
            <a:ext cx="312724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400" b="1" i="0">
                <a:solidFill>
                  <a:srgbClr val="0F172A"/>
                </a:solidFill>
                <a:latin typeface="Aptos"/>
              </a:rPr>
              <a:t>~$0.0008*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8065007" y="3493008"/>
            <a:ext cx="3456432" cy="1225296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8229599" y="3657600"/>
            <a:ext cx="31272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30" b="1" i="0">
                <a:solidFill>
                  <a:srgbClr val="64748B"/>
                </a:solidFill>
                <a:latin typeface="Aptos"/>
              </a:rPr>
              <a:t>30-BED FACILITY / MONTH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8229599" y="3968496"/>
            <a:ext cx="312724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2400" b="1" i="0">
                <a:solidFill>
                  <a:srgbClr val="0F172A"/>
                </a:solidFill>
                <a:latin typeface="Aptos"/>
              </a:rPr>
              <a:t>&lt;$20*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685800" y="4983480"/>
            <a:ext cx="10789920" cy="566928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69" b="1" i="0">
                <a:solidFill>
                  <a:srgbClr val="B45309"/>
                </a:solidFill>
                <a:latin typeface="Aptos"/>
              </a:rPr>
              <a:t>* Based on existing hospital IT infrastructure, local CPU speech processing, and Gemini 2.5 Flash OCR costing under $0.001 per structured extraction; brief assumes ~900 rounds/month. Actual cost depends on hosting, API usage, privacy/security controls, support and hardware.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(3).png" id="173" name="Google Shape;17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75520" y="201168"/>
            <a:ext cx="1828800" cy="250928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12"/>
          <p:cNvSpPr txBox="1"/>
          <p:nvPr/>
        </p:nvSpPr>
        <p:spPr>
          <a:xfrm>
            <a:off x="342338" y="326631"/>
            <a:ext cx="90525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sz="2300" b="1" i="0">
                <a:solidFill>
                  <a:srgbClr val="1A4599"/>
                </a:solidFill>
                <a:latin typeface="Aptos Display"/>
              </a:rPr>
              <a:t>What Next? Plans to Take the Initiative Forward</a:t>
            </a:r>
            <a:endParaRPr b="1" i="0" spc="0" sz="2700" u="none" cap="none" strike="noStrike">
              <a:solidFill>
                <a:srgbClr val="1F3DA9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12"/>
          <p:cNvSpPr txBox="1"/>
          <p:nvPr/>
        </p:nvSpPr>
        <p:spPr>
          <a:xfrm>
            <a:off x="530352" y="6565392"/>
            <a:ext cx="7132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50" b="0" i="0">
                <a:solidFill>
                  <a:srgbClr val="64748B"/>
                </a:solidFill>
                <a:latin typeface="Aptos"/>
              </a:rPr>
              <a:t>HEALTH-A-THON 2026  •  FINAL SUBMISSION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TextBox 175"/>
          <p:cNvSpPr txBox="1"/>
          <p:nvPr/>
        </p:nvSpPr>
        <p:spPr>
          <a:xfrm>
            <a:off x="530352" y="832104"/>
            <a:ext cx="10607040" cy="256032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4748B"/>
                </a:solidFill>
                <a:latin typeface="Aptos"/>
              </a:rPr>
              <a:t>Planned steps from functional MVP to a supervised clinical pilot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713232" y="1463040"/>
            <a:ext cx="502920" cy="292608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740664" y="1476756"/>
            <a:ext cx="44805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1A4599"/>
                </a:solidFill>
                <a:latin typeface="Aptos"/>
              </a:rPr>
              <a:t>01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417320" y="1435608"/>
            <a:ext cx="2331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F172A"/>
                </a:solidFill>
                <a:latin typeface="Aptos"/>
              </a:rPr>
              <a:t>MVP HARDENING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886200" y="1389888"/>
            <a:ext cx="7452360" cy="56692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334155"/>
                </a:solidFill>
                <a:latin typeface="Aptos"/>
              </a:rPr>
              <a:t>Security review, error handling, data-retention policy, and clinical validation plan.</a:t>
            </a:r>
          </a:p>
        </p:txBody>
      </p:sp>
      <p:cxnSp>
        <p:nvCxnSpPr>
          <p:cNvPr id="181" name="Connector 180"/>
          <p:cNvCxnSpPr/>
          <p:nvPr/>
        </p:nvCxnSpPr>
        <p:spPr>
          <a:xfrm>
            <a:off x="964692" y="1755648"/>
            <a:ext cx="0" cy="667512"/>
          </a:xfrm>
          <a:prstGeom prst="line">
            <a:avLst/>
          </a:prstGeom>
          <a:ln w="1524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Rounded Rectangle 181"/>
          <p:cNvSpPr/>
          <p:nvPr/>
        </p:nvSpPr>
        <p:spPr>
          <a:xfrm>
            <a:off x="713232" y="2487168"/>
            <a:ext cx="502920" cy="292608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740664" y="2500884"/>
            <a:ext cx="44805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1A4599"/>
                </a:solidFill>
                <a:latin typeface="Aptos"/>
              </a:rPr>
              <a:t>02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417320" y="2459736"/>
            <a:ext cx="2331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F172A"/>
                </a:solidFill>
                <a:latin typeface="Aptos"/>
              </a:rPr>
              <a:t>SUPERVISED PILOT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886200" y="2414016"/>
            <a:ext cx="7452360" cy="56692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334155"/>
                </a:solidFill>
                <a:latin typeface="Aptos"/>
              </a:rPr>
              <a:t>Evaluate in a 20-bed inpatient oncology ward under appropriate institutional oversight; measure documentation time and physician satisfaction.</a:t>
            </a:r>
          </a:p>
        </p:txBody>
      </p:sp>
      <p:cxnSp>
        <p:nvCxnSpPr>
          <p:cNvPr id="186" name="Connector 185"/>
          <p:cNvCxnSpPr/>
          <p:nvPr/>
        </p:nvCxnSpPr>
        <p:spPr>
          <a:xfrm>
            <a:off x="964692" y="2779776"/>
            <a:ext cx="0" cy="667512"/>
          </a:xfrm>
          <a:prstGeom prst="line">
            <a:avLst/>
          </a:prstGeom>
          <a:ln w="1524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7" name="Rounded Rectangle 186"/>
          <p:cNvSpPr/>
          <p:nvPr/>
        </p:nvSpPr>
        <p:spPr>
          <a:xfrm>
            <a:off x="713232" y="3511296"/>
            <a:ext cx="502920" cy="292608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740664" y="3525012"/>
            <a:ext cx="44805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1A4599"/>
                </a:solidFill>
                <a:latin typeface="Aptos"/>
              </a:rPr>
              <a:t>03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417320" y="3483864"/>
            <a:ext cx="2331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F172A"/>
                </a:solidFill>
                <a:latin typeface="Aptos"/>
              </a:rPr>
              <a:t>FHIR INTEGRATION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3886200" y="3438144"/>
            <a:ext cx="7452360" cy="56692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334155"/>
                </a:solidFill>
                <a:latin typeface="Aptos"/>
              </a:rPr>
              <a:t>Build an open-source SMART-on-FHIR adapter for controlled two-way EHR synchronization.</a:t>
            </a:r>
          </a:p>
        </p:txBody>
      </p:sp>
      <p:cxnSp>
        <p:nvCxnSpPr>
          <p:cNvPr id="191" name="Connector 190"/>
          <p:cNvCxnSpPr/>
          <p:nvPr/>
        </p:nvCxnSpPr>
        <p:spPr>
          <a:xfrm>
            <a:off x="964692" y="3803904"/>
            <a:ext cx="0" cy="667512"/>
          </a:xfrm>
          <a:prstGeom prst="line">
            <a:avLst/>
          </a:prstGeom>
          <a:ln w="1524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Rounded Rectangle 191"/>
          <p:cNvSpPr/>
          <p:nvPr/>
        </p:nvSpPr>
        <p:spPr>
          <a:xfrm>
            <a:off x="713232" y="4535424"/>
            <a:ext cx="502920" cy="292608"/>
          </a:xfrm>
          <a:prstGeom prst="roundRect">
            <a:avLst/>
          </a:prstGeom>
          <a:solidFill>
            <a:srgbClr val="EFF6FF"/>
          </a:solidFill>
          <a:ln w="1143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740664" y="4549140"/>
            <a:ext cx="44805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900" b="1" i="0">
                <a:solidFill>
                  <a:srgbClr val="1A4599"/>
                </a:solidFill>
                <a:latin typeface="Aptos"/>
              </a:rPr>
              <a:t>04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417320" y="4507992"/>
            <a:ext cx="2331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0F172A"/>
                </a:solidFill>
                <a:latin typeface="Aptos"/>
              </a:rPr>
              <a:t>SPECIALTY EXPANSION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3886200" y="4462272"/>
            <a:ext cx="7452360" cy="566928"/>
          </a:xfrm>
          <a:prstGeom prst="rect">
            <a:avLst/>
          </a:prstGeom>
          <a:noFill/>
        </p:spPr>
        <p:txBody>
          <a:bodyPr wrap="square" lIns="9144" rIns="9144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80" b="0" i="0">
                <a:solidFill>
                  <a:srgbClr val="334155"/>
                </a:solidFill>
                <a:latin typeface="Aptos"/>
              </a:rPr>
              <a:t>Adapt terminology and screening rules for BMT, ICU, and pediatric oncology with specialty review.</a:t>
            </a:r>
          </a:p>
        </p:txBody>
      </p:sp>
      <p:sp>
        <p:nvSpPr>
          <p:cNvPr id="196" name="Rounded Rectangle 195"/>
          <p:cNvSpPr/>
          <p:nvPr/>
        </p:nvSpPr>
        <p:spPr>
          <a:xfrm>
            <a:off x="713232" y="5596128"/>
            <a:ext cx="10771632" cy="475488"/>
          </a:xfrm>
          <a:prstGeom prst="roundRect">
            <a:avLst/>
          </a:prstGeom>
          <a:solidFill>
            <a:srgbClr val="F0FDFA"/>
          </a:solidFill>
          <a:ln w="1143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896112" y="5705856"/>
            <a:ext cx="104058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040" b="1" i="0">
                <a:solidFill>
                  <a:srgbClr val="00843D"/>
                </a:solidFill>
                <a:latin typeface="Aptos"/>
              </a:rPr>
              <a:t>Public sharing preference: YES — MIT License on GitHub, as stated in the project brief.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(3).png" id="181" name="Google Shape;18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0" y="731520"/>
            <a:ext cx="6675120" cy="915888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13"/>
          <p:cNvSpPr txBox="1"/>
          <p:nvPr/>
        </p:nvSpPr>
        <p:spPr>
          <a:xfrm>
            <a:off x="1371600" y="2377440"/>
            <a:ext cx="9418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3800"/>
              <a:buFont typeface="Arial"/>
              <a:buNone/>
            </a:pPr>
            <a:r>
              <a:rPr sz="3400" b="1" i="0">
                <a:solidFill>
                  <a:srgbClr val="1A4599"/>
                </a:solidFill>
                <a:latin typeface="Aptos Display"/>
              </a:rPr>
              <a:t>Thank You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3"/>
          <p:cNvSpPr txBox="1"/>
          <p:nvPr/>
        </p:nvSpPr>
        <p:spPr>
          <a:xfrm>
            <a:off x="1828800" y="3291840"/>
            <a:ext cx="8503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Calibri"/>
              </a:defRPr>
            </a:pPr>
            <a:r>
              <a:t>Binary Minds  •  Team Code: 1RKUPH</a:t>
            </a:r>
          </a:p>
        </p:txBody>
      </p:sp>
      <p:sp>
        <p:nvSpPr>
          <p:cNvPr id="184" name="Google Shape;184;p13"/>
          <p:cNvSpPr txBox="1"/>
          <p:nvPr/>
        </p:nvSpPr>
        <p:spPr>
          <a:xfrm>
            <a:off x="1371600" y="3886200"/>
            <a:ext cx="94183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  <a:latin typeface="Calibri"/>
              </a:defRPr>
            </a:pPr>
            <a:r>
              <a:t>Chalicheemala Surya Thejas (Team Leader)  •  Gaddam Sai Santhosh  •  Dr. Amrut S Kadam (BMCRI)</a:t>
            </a:r>
          </a:p>
          <a:p>
            <a:pPr algn="ctr">
              <a:defRPr sz="1200">
                <a:solidFill>
                  <a:srgbClr val="334155"/>
                </a:solidFill>
                <a:latin typeface="Calibri"/>
              </a:defRPr>
            </a:pPr>
            <a:r>
              <a:t>saisanthosh05012006@gmail.com   |   https://rounds-ai-umber.vercel.app/</a:t>
            </a:r>
          </a:p>
          <a:p>
            <a:pPr algn="ctr">
              <a:defRPr sz="1200">
                <a:solidFill>
                  <a:srgbClr val="334155"/>
                </a:solidFill>
                <a:latin typeface="Calibri"/>
              </a:defRPr>
            </a:pPr>
            <a:r>
              <a:t>Demo Video: https://youtu.be/Kia1C-a0QLk   |   GitHub: https://github.com/santhoshh005/Rounds_AI</a:t>
            </a:r>
          </a:p>
        </p:txBody>
      </p:sp>
      <p:sp>
        <p:nvSpPr>
          <p:cNvPr id="185" name="Google Shape;185;p13"/>
          <p:cNvSpPr txBox="1"/>
          <p:nvPr/>
        </p:nvSpPr>
        <p:spPr>
          <a:xfrm>
            <a:off x="1828800" y="4983480"/>
            <a:ext cx="8503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4" lIns="9144" spcFirstLastPara="1" rIns="9144" wrap="square" tIns="9144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400" b="1" i="0">
                <a:solidFill>
                  <a:srgbClr val="0F172A"/>
                </a:solidFill>
                <a:latin typeface="Aptos"/>
              </a:rPr>
              <a:t>RoundsAI — Inpatient Oncology Ward Copilot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13"/>
          <p:cNvSpPr txBox="1"/>
          <p:nvPr/>
        </p:nvSpPr>
        <p:spPr>
          <a:xfrm>
            <a:off x="530352" y="6565392"/>
            <a:ext cx="7132320" cy="1969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sz="850" b="0" i="0">
                <a:solidFill>
                  <a:srgbClr val="64748B"/>
                </a:solidFill>
                <a:latin typeface="Aptos"/>
              </a:rPr>
              <a:t>HEALTH-A-THON 2026  •  FINAL SUBMISSION</a:t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TextBox 186"/>
          <p:cNvSpPr txBox="1"/>
          <p:nvPr/>
        </p:nvSpPr>
        <p:spPr>
          <a:xfrm>
            <a:off x="1280160" y="4343400"/>
            <a:ext cx="9646920" cy="502920"/>
          </a:xfrm>
          <a:prstGeom prst="rect">
            <a:avLst/>
          </a:prstGeom>
          <a:noFill/>
        </p:spPr>
        <p:txBody>
          <a:bodyPr wrap="square" lIns="9144" rIns="9144" tIns="9144" bIns="9144" anchor="t">
            <a:spAutoFit/>
          </a:bodyPr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 [1792146663855]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title>RoundsAI — Health-a-thon 2026 Final Submission</dc:title>
  <dc:subject>Official Health-a-thon final submission template completed with RoundsAI content</dc:subject>
  <dc:creator>Binary Minds / Gaddam Sai Santhosh</dc:creator>
</cp:coreProperties>
</file>