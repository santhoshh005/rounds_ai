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Ag/vdU80Kjj0BWWHcgiMiHYa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4"/>
          <p:cNvSpPr txBox="1"/>
          <p:nvPr/>
        </p:nvSpPr>
        <p:spPr>
          <a:xfrm>
            <a:off x="11109960" y="6547104"/>
            <a:ext cx="576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" rIns="0" bIns="365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1" i="0" u="none" strike="noStrike" cap="none" spc="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anthoshh005/Rounds_AI" TargetMode="External"/><Relationship Id="rId5" Type="http://schemas.openxmlformats.org/officeDocument/2006/relationships/hyperlink" Target="https://www.youtube.com/watch?v=Kia1C-a0QLk" TargetMode="External"/><Relationship Id="rId4" Type="http://schemas.openxmlformats.org/officeDocument/2006/relationships/hyperlink" Target="https://rounds-ai-umber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0" y="731520"/>
            <a:ext cx="8183879" cy="11229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303520" y="1828800"/>
            <a:ext cx="1554480" cy="64008"/>
          </a:xfrm>
          <a:prstGeom prst="rect">
            <a:avLst/>
          </a:prstGeom>
          <a:solidFill>
            <a:srgbClr val="0D87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spc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828800" y="228600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spc="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600" b="1" i="0">
                <a:solidFill>
                  <a:srgbClr val="1A4599"/>
                </a:solidFill>
                <a:latin typeface="Aptos Display"/>
              </a:rPr>
              <a:t>RoundsAI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45920" y="3675887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>
                <a:solidFill>
                  <a:srgbClr val="0F172A"/>
                </a:solidFill>
                <a:latin typeface="Aptos"/>
              </a:rPr>
              <a:t>Multimodal Inpatient Oncology Ward Copilot &amp; Real-Time Decision Support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011680" y="5257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 i="0">
                <a:solidFill>
                  <a:srgbClr val="00843D"/>
                </a:solidFill>
                <a:latin typeface="Aptos"/>
              </a:rPr>
              <a:t>TEAM NAME  Binary Minds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309360" y="52578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r>
              <a:t>TEAM CODE  1RKUPH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PHASE 2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42338" y="32663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Team Overview &amp; Background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Technical ownership paired with oncology workflow collaboration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6928" y="1417320"/>
            <a:ext cx="5440680" cy="23317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76072" y="1508760"/>
            <a:ext cx="50292" cy="214883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ENGINEERING TEAM  |  Binary Minds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2376" y="1883664"/>
            <a:ext cx="5102352" cy="1755648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•  Chalicheemala Surya Thejas — Team Leader &amp; Technical Lead (Full-stack architecture &amp; systems deployment).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•  Gaddam Sai Santhosh — Full-Stack AI Systems Engineer (Local Whisper voice pipeline, Gemini lab OCR, CTCAE v5.0 engine, SSE live sync &amp; Next.js 15 workstation).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99632" y="1417320"/>
            <a:ext cx="5440680" cy="23317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208776" y="1508760"/>
            <a:ext cx="50292" cy="214883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DOCTOR PARTNER  |  Dr. Amrut S Kadam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55080" y="1883664"/>
            <a:ext cx="5102352" cy="1755648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•  Clinical Lead &amp; Inpatient Ward Attending, Victoria Hospital, Bangalore Medical College &amp; Research Institute (BMCRI).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•  Co-designed clinical ward workflows, verified CTCAE v5.0 myelosuppression criteria and 120+ drug phonetic normalization rules.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•  Reviewed IDSA/ASCO 2018 febrile-neutropenia screening sentinels and clinical risk boundaries.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66928" y="3950208"/>
            <a:ext cx="11073384" cy="129844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76072" y="4041648"/>
            <a:ext cx="50292" cy="1115568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22376" y="4059936"/>
            <a:ext cx="10799063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ORGANISATION, CLINICAL SETTING &amp; TRACK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" y="4416552"/>
            <a:ext cx="10735056" cy="7223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 Institution: Victoria Hospital, Bangalore Medical College &amp; Research Institute (BMCRI) &amp; Binary Minds.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 Track: Cancer · Doctor / Care Team · Doctor Productivity &amp; Knowledge Assistant (Health-a-thon 2026).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58368" y="5596128"/>
            <a:ext cx="2057400" cy="310896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85800" y="5609844"/>
            <a:ext cx="200253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ACADEMIC + CLINICAL INPUT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80360" y="5596128"/>
            <a:ext cx="8503920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4748B"/>
                </a:solidFill>
                <a:latin typeface="Aptos"/>
              </a:rPr>
              <a:t>Clinical thresholds and workflows should be confirmed by the hospital’s clinical governance team before live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400" b="1" i="0">
                <a:solidFill>
                  <a:srgbClr val="1A4599"/>
                </a:solidFill>
                <a:latin typeface="Aptos Display"/>
              </a:rPr>
              <a:t>Problem Statement and Supporting Evidence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Inpatient oncology rounds combine fragmented inputs with time-critical decisions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66928" y="1417320"/>
            <a:ext cx="3566160" cy="196596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76072" y="1508760"/>
            <a:ext cx="50292" cy="1783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22376" y="1527048"/>
            <a:ext cx="329184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DOCUMENTATION BURDEN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" y="1883664"/>
            <a:ext cx="3227832" cy="1389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Aptos"/>
              </a:rPr>
              <a:t>Clinicians may spend over 20 minutes per patient synthesizing spoken observations, printed CBC sheets, cumulative toxicity calculations, and EMR documentation.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15968" y="1417320"/>
            <a:ext cx="3566160" cy="1965960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325112" y="1508760"/>
            <a:ext cx="50292" cy="1783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471416" y="1527048"/>
            <a:ext cx="329184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TIME-CRITICAL ESCALATION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71416" y="1883664"/>
            <a:ext cx="3227832" cy="1389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0" i="0">
                <a:solidFill>
                  <a:srgbClr val="334155"/>
                </a:solidFill>
                <a:latin typeface="Aptos"/>
              </a:rPr>
              <a:t>The project brief cites &gt;45% of ward hours spent on EMR entry and reports an ~8% increase in 28-day mortality per hour of delay in empiric antibiotics for neutropenic sepsis (IDSA/ASCO 2018).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65008" y="1417320"/>
            <a:ext cx="3566160" cy="1965960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8074152" y="1508760"/>
            <a:ext cx="50292" cy="1783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20456" y="1527048"/>
            <a:ext cx="329184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DICTATION &amp; PRIVACY GAPS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0456" y="1883664"/>
            <a:ext cx="3227832" cy="1389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Generic speech tools can misrender regimens (“fall fox” for mFOLFOX6; “carbo taxol” for Carboplatin/Paclitaxel). Cloud speech APIs also create voice-data egress and recurring-cost concerns.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3767328"/>
            <a:ext cx="105156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4599"/>
                </a:solidFill>
                <a:latin typeface="Aptos"/>
              </a:rPr>
              <a:t>CURRENT ROUND DOCUMENTATION FLOW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85800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795528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22960" y="4375403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25880" y="4334256"/>
            <a:ext cx="1572768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Spoken symptoms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90672" y="437083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547872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3657600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685032" y="4375403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187952" y="4334256"/>
            <a:ext cx="1572768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Printed CBC sheet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952744" y="437083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409944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6519672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547104" y="4375403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50024" y="4334256"/>
            <a:ext cx="1572768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Toxicity calculations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4816" y="4370832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272016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9381744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409176" y="4375403"/>
            <a:ext cx="3840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12096" y="4334256"/>
            <a:ext cx="1572768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EMR note entry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5800" y="5413248"/>
            <a:ext cx="108813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Need: reduce repetitive data entry and terminology errors while preserving traceability, clinician review, and final sign-off.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5800" y="596188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Aptos"/>
              </a:rPr>
              <a:t>Evidence figures are reproduced from the team’s project brief and should be independently validated before external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Target Users and Use Case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Designed for inpatient oncology workflows, not autonomous diagnosis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66928" y="1417320"/>
            <a:ext cx="5440680" cy="312724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76072" y="1508760"/>
            <a:ext cx="50292" cy="2944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PRIMARY USERS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2376" y="1883664"/>
            <a:ext cx="5102352" cy="2551176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Medical oncologists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Oncology fellows and ward residents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Oncology staff nurses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Clinical pharmacists verifying chemotherapy dose modifications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199632" y="1417320"/>
            <a:ext cx="5440680" cy="3127248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208776" y="1508760"/>
            <a:ext cx="50292" cy="2944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WORKFLOW &amp; NEEDS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55080" y="1883664"/>
            <a:ext cx="5102352" cy="2551176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Morning bedside rounds with simultaneous symptom capture and lab-sheet scanning.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Convert spoken observations into a structured draft note.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Pre-calculate CTCAE v5.0 toxicity grades and show safety-screening flags for clinician review.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Synchronize to the doctor station and support formatted EMR transfer without duplicate re-entry.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4828032"/>
            <a:ext cx="11073384" cy="86868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22960" y="5020056"/>
            <a:ext cx="19659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7DD3FC"/>
                </a:solidFill>
                <a:latin typeface="Aptos"/>
              </a:rPr>
              <a:t>INTENDED SETTING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0" y="4983480"/>
            <a:ext cx="8503920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Tertiary cancer centers  •  Inpatient medical oncology wards  •  BMT units  •  Day-care chemotherapy infusion centers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5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342338" y="326631"/>
            <a:ext cx="90525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400" b="1" i="0">
                <a:solidFill>
                  <a:srgbClr val="1A4599"/>
                </a:solidFill>
                <a:latin typeface="Aptos Display"/>
              </a:rPr>
              <a:t>Solution Overview, Key Features &amp; Impact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 dual-tier copilot connects bedside capture to a doctor assessment station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1325880"/>
            <a:ext cx="11073384" cy="70408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22960" y="1499616"/>
            <a:ext cx="1051560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RoundsAI transforms bedside audio and paper CBC reports into a structured, evidence-linked draft note for clinician review.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94360" y="2267712"/>
            <a:ext cx="2743200" cy="123444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03504" y="2359152"/>
            <a:ext cx="50292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" y="2377440"/>
            <a:ext cx="246888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BEDSIDE MOBILE  /mobile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9808" y="2734056"/>
            <a:ext cx="2404872" cy="65836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Dictate symptoms • photograph CBC • transmit round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709160" y="2267712"/>
            <a:ext cx="2743200" cy="123444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718304" y="2359152"/>
            <a:ext cx="5029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864608" y="2377440"/>
            <a:ext cx="246888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LOCAL PROCESSING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64608" y="2734056"/>
            <a:ext cx="2404872" cy="65836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0" i="0">
                <a:solidFill>
                  <a:srgbClr val="334155"/>
                </a:solidFill>
                <a:latin typeface="Aptos"/>
              </a:rPr>
              <a:t>Whisper transcription • oncology term normalization • OCR extraction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823960" y="2267712"/>
            <a:ext cx="2743200" cy="123444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8833104" y="2359152"/>
            <a:ext cx="50292" cy="1051560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979408" y="2377440"/>
            <a:ext cx="246888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DOCTOR STATION  /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79408" y="2734056"/>
            <a:ext cx="2404872" cy="65836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0" i="0">
                <a:solidFill>
                  <a:srgbClr val="334155"/>
                </a:solidFill>
                <a:latin typeface="Aptos"/>
              </a:rPr>
              <a:t>Cockpit alert • CTCAE badges • editable note • attestation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29000" y="2679192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43800" y="2679192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284C7"/>
                </a:solidFill>
                <a:latin typeface="Aptos"/>
              </a:rPr>
              <a:t>SSE / polling →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66928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685800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13232" y="3982211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4325112"/>
            <a:ext cx="1801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Local Whisper AI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5800" y="4626864"/>
            <a:ext cx="18013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faster-whisper base int8; audio stays on device.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98064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2916936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944368" y="3982211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16936" y="4325112"/>
            <a:ext cx="1801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120+ term normalizer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16936" y="4626864"/>
            <a:ext cx="18013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Corrects oncology regimen and clinical phrases.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029200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5148072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5175504" y="3982211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148072" y="4325112"/>
            <a:ext cx="1801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Lab-sheet OCR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48072" y="4626864"/>
            <a:ext cx="18013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Gemini 2.5 Flash extracts CBC values.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60336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379208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406640" y="3982211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379208" y="4325112"/>
            <a:ext cx="1801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CTCAE v5.0 grading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379208" y="4626864"/>
            <a:ext cx="18013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Rules-based myelosuppression severity indicators.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491472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9610344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9637776" y="3982211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10344" y="4325112"/>
            <a:ext cx="1801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Safety sentinels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610344" y="4626864"/>
            <a:ext cx="18013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Flags febrile-neutropenia criteria for review.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8368" y="5376672"/>
            <a:ext cx="10881360" cy="530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Project-reported impact: documentation time from 20 minutes to under 2 minutes per patient (&gt;85% time savings). Notes remain drafts until the attending reviews and attests.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943600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B91C1C"/>
                </a:solidFill>
                <a:latin typeface="Aptos"/>
              </a:rPr>
              <a:t>Raw audio is local; lab-image OCR calls Gemini 2.5 Flash and requires approved data-handling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500" b="1" i="0">
                <a:solidFill>
                  <a:srgbClr val="1A4599"/>
                </a:solidFill>
                <a:latin typeface="Aptos Display"/>
              </a:rPr>
              <a:t>Technology, Tools and AI Approach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Local-first speech, structured extraction, deterministic rules, and resilient live updates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58952" y="1389888"/>
            <a:ext cx="10652760" cy="56692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87552" y="152704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284C7"/>
                </a:solidFill>
                <a:latin typeface="Aptos"/>
              </a:rPr>
              <a:t>INPUT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62072" y="1508760"/>
            <a:ext cx="8211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Bedside browser • audio capture • CBC photo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760720" y="192938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58952" y="2157984"/>
            <a:ext cx="10652760" cy="566928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552" y="229514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D9488"/>
                </a:solidFill>
                <a:latin typeface="Aptos"/>
              </a:rPr>
              <a:t>AI / EXTRACTION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62072" y="2276856"/>
            <a:ext cx="8211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faster-whisper base int8 (local CPU) • Gemini 2.5 Flash OCR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760720" y="2697479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58952" y="2926080"/>
            <a:ext cx="10652760" cy="56692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7552" y="3063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1A4599"/>
                </a:solidFill>
                <a:latin typeface="Aptos"/>
              </a:rPr>
              <a:t>CLINICAL RULES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862072" y="3044952"/>
            <a:ext cx="8211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120+ phonetic rules • CTCAE v5.0 grading • IDSA/ASCO 2018 sentinels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760720" y="346557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58952" y="3694176"/>
            <a:ext cx="10652760" cy="56692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7552" y="383133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F172A"/>
                </a:solidFill>
                <a:latin typeface="Aptos"/>
              </a:rPr>
              <a:t>API &amp; DATA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862072" y="3813048"/>
            <a:ext cx="8211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FastAPI • Python 3.12+ • Pydantic v2 • SQLite / Supabase PostgreSQL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60720" y="42336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8952" y="4462272"/>
            <a:ext cx="10652760" cy="56692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87552" y="459943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284C7"/>
                </a:solidFill>
                <a:latin typeface="Aptos"/>
              </a:rPr>
              <a:t>LIVE SYNC &amp; UI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62072" y="4581144"/>
            <a:ext cx="82113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SSE /api/v1/rounds/stream + 5-second polling • Next.js 15 • TypeScript • React 19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7240" y="5486400"/>
            <a:ext cx="10698480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B91C1C"/>
                </a:solidFill>
                <a:latin typeface="Aptos"/>
              </a:rPr>
              <a:t>Architecture boundary: raw voice is transcribed locally; lab-sheet OCR uses an external model API. Patient-identifiable images should only be sent when hospital policy, consent, and data-processing controls permit.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8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500" b="1" i="0">
                <a:solidFill>
                  <a:srgbClr val="1A4599"/>
                </a:solidFill>
                <a:latin typeface="Aptos Display"/>
              </a:rPr>
              <a:t>Build Sprint Journey and Progress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Four weeks of implementation, pivots, and delivered functionality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694944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22376" y="1650492"/>
            <a:ext cx="78638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4944" y="2057400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Core backend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4944" y="2487168"/>
            <a:ext cx="22677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FastAPI foundation, local Whisper voice pipeline, initial oncology phonetic dictionary.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383280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3511296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538728" y="1650492"/>
            <a:ext cx="78638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11296" y="2057400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Multimodal capture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11296" y="2487168"/>
            <a:ext cx="22677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Gemini vision OCR, CTCAE v5.0 grading logic, bedside mobile companion.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199632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6327648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355080" y="1650492"/>
            <a:ext cx="78638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327648" y="2057400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Live workflow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27648" y="2487168"/>
            <a:ext cx="22677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SSE synchronization, patient analytics, clinical screening sentinels.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015984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9144000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171432" y="1650492"/>
            <a:ext cx="78638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0" y="2057400"/>
            <a:ext cx="22677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Hardening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44000" y="2487168"/>
            <a:ext cx="22677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Clinical UI overhaul, tests, and Vercel monorepo deployment configuration.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66928" y="3611880"/>
            <a:ext cx="5440680" cy="1353312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576072" y="3703320"/>
            <a:ext cx="50292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22376" y="372160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MAJOR EVOLUTIONS &amp; PIVOTS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22376" y="4078224"/>
            <a:ext cx="5102352" cy="7772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Replaced cloud speech APIs with on-device Whisper for local audio privacy.</a:t>
            </a:r>
          </a:p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Added a 5-second polling fallback to SSE for roaming hospital Wi-Fi.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199632" y="3611880"/>
            <a:ext cx="5440680" cy="13533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6208776" y="3703320"/>
            <a:ext cx="50292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355080" y="372160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OUTPUTS DELIVERED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355080" y="4078224"/>
            <a:ext cx="5102352" cy="7772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88 backend pytest tests reported passing; 22 frontend unit tests.</a:t>
            </a:r>
          </a:p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Structured note formatting, clinical UI with tabular numerals, and 1-click EMR clipboard export.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85800" y="5321808"/>
            <a:ext cx="1078992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1" i="0">
                <a:solidFill>
                  <a:srgbClr val="B45309"/>
                </a:solidFill>
                <a:latin typeface="Aptos"/>
              </a:rPr>
              <a:t>Incomplete / future scope: bi-directional HL7 FHIR integration with hospital EHR databases; current workflow uses standardized clipboard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9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Evaluation and User Validation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Automated verification results and clinical workflow feedback reported by the team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66928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704088" y="1554480"/>
            <a:ext cx="2267712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284C7"/>
                </a:solidFill>
                <a:latin typeface="Aptos"/>
              </a:rPr>
              <a:t>88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4088" y="193852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Backend pytest tests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2176272"/>
            <a:ext cx="22677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100% pass rate reported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383280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520440" y="1554480"/>
            <a:ext cx="2267712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D9488"/>
                </a:solidFill>
                <a:latin typeface="Aptos"/>
              </a:rPr>
              <a:t>22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520440" y="193852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Frontend unit tests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520440" y="2176272"/>
            <a:ext cx="22677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Node.js native test runner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99632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336792" y="1554480"/>
            <a:ext cx="2267712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45309"/>
                </a:solidFill>
                <a:latin typeface="Aptos"/>
              </a:rPr>
              <a:t>&lt;6.5 ms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36792" y="193852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Frontend test runtime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336792" y="2176272"/>
            <a:ext cx="22677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Reported test execution timing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015984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9153144" y="1554480"/>
            <a:ext cx="2267712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91C1C"/>
                </a:solidFill>
                <a:latin typeface="Aptos"/>
              </a:rPr>
              <a:t>ANC 499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53144" y="193852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Boundary scenario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53144" y="2176272"/>
            <a:ext cx="22677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Active fever ≥38.3°C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66928" y="2761488"/>
            <a:ext cx="5440680" cy="1600200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576072" y="2852928"/>
            <a:ext cx="50292" cy="1417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22376" y="2871216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CLINICAL BOUNDARY &amp; DATA INTEGRITY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2376" y="3227832"/>
            <a:ext cx="5102352" cy="1024127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Febrile-neutropenia sentinel reportedly triggers at ANC 499 cells/µL with active fever ≥38.3°C and suppresses when fever is negated (“patient is afebrile”).</a:t>
            </a:r>
          </a:p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Tests reportedly verify that lab numbers are not fabricated and chemotherapy dosage values are not changed during note polishing.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199632" y="2761488"/>
            <a:ext cx="5440680" cy="160020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6208776" y="2852928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355080" y="2871216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DOCTOR PARTNER FEEDBACK &amp; LIMITATIONS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355080" y="3227832"/>
            <a:ext cx="5102352" cy="1024127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Pre-calculated ANC nadir and CTCAE grades were described as reducing repetitive mental math during rounds.</a:t>
            </a:r>
          </a:p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Tabular numerals support scanning; multi-accent recognition in noisy corridors remains planned for further validation.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58368" y="4828032"/>
            <a:ext cx="1088136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The project brief reports the above tests and feedback. Automated tests are not clinical validation; thresholds, edge cases, workflow fit, and safety must be evaluated with qualified clinicians.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Safety and Responsible AI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Assistive workflows with explicit clinician ownership and a clear privacy boundary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66928" y="1417320"/>
            <a:ext cx="5440680" cy="14173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76072" y="1508760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DATA PRIVACY &amp; LOCAL AUDIO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2376" y="1883664"/>
            <a:ext cx="5102352" cy="8412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Aptos"/>
              </a:rPr>
              <a:t>In local mode, raw patient audio is processed on the host CPU and not sent to external cloud speech servers.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199632" y="1417320"/>
            <a:ext cx="5440680" cy="1417320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6208776" y="1508760"/>
            <a:ext cx="5029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NON-PRESCRIPTIVE SENTINELS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55080" y="1883664"/>
            <a:ext cx="5102352" cy="8412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Aptos"/>
              </a:rPr>
              <a:t>Flags are phrased as screening criteria for clinician review; the AI does not issue autonomous orders.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6928" y="2999232"/>
            <a:ext cx="5440680" cy="1417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576072" y="3090672"/>
            <a:ext cx="50292" cy="1234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22376" y="3108960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HUMAN-IN-THE-LOOP ATTESTATION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22376" y="3465576"/>
            <a:ext cx="5102352" cy="84124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Aptos"/>
              </a:rPr>
              <a:t>Notes remain in DRAFT until the attending reviews findings, reconciles flagged labs, and signs with credentials and timestamp.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99632" y="2999232"/>
            <a:ext cx="5440680" cy="14173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208776" y="3090672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6355080" y="3108960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ACCESSIBILITY &amp; INCLUSION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355080" y="3465576"/>
            <a:ext cx="5102352" cy="84124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The project specifies high-contrast UI, tabular numerals, visible keyboard focus, and semantic ARIA live regions for critical alerts.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66928" y="4736592"/>
            <a:ext cx="11073384" cy="841248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804672" y="4937760"/>
            <a:ext cx="10561320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91C1C"/>
                </a:solidFill>
                <a:latin typeface="Aptos"/>
              </a:rPr>
              <a:t>Important boundary: lab-sheet OCR uses Gemini 2.5 Flash. Only process patient-identifiable images when institutional privacy, consent, security, and data-processing requirements are satisfied.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1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/>
        </p:nvSpPr>
        <p:spPr>
          <a:xfrm>
            <a:off x="342338" y="326631"/>
            <a:ext cx="90525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400" b="1" i="0">
                <a:solidFill>
                  <a:srgbClr val="1A4599"/>
                </a:solidFill>
                <a:latin typeface="Aptos Display"/>
              </a:rPr>
              <a:t>Deployment, Cost and Sustainability Plan</a:t>
            </a:r>
            <a:endParaRPr sz="2700" b="1" i="0" u="none" strike="noStrike" cap="none" spc="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 lightweight browser-based workflow designed for existing hospital devices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6928" y="1417320"/>
            <a:ext cx="5440680" cy="13533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576072" y="1508760"/>
            <a:ext cx="50292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DEPLOYMENT MODEL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22376" y="1883664"/>
            <a:ext cx="5102352" cy="7772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Modern browsers on ward PCs and mobile devices.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Docker-based on-premise deployment; no dedicated GPU required.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99632" y="1417320"/>
            <a:ext cx="5440680" cy="1353312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208776" y="1508760"/>
            <a:ext cx="50292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EHR INTEGRATION PATHWAY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355080" y="1883664"/>
            <a:ext cx="5102352" cy="777240"/>
          </a:xfrm>
          <a:prstGeom prst="rect">
            <a:avLst/>
          </a:prstGeom>
          <a:noFill/>
        </p:spPr>
        <p:txBody>
          <a:bodyPr wrap="square" lIns="9144" tIns="0" rIns="9144" bIns="0">
            <a:spAutoFit/>
          </a:bodyPr>
          <a:lstStyle/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One-click clipboard export into existing Epic, Cerner, or Meditech workflow.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Future FHIR HL7 export for Observation, Condition, and DiagnosticReport.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58368" y="3035808"/>
            <a:ext cx="1088136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4599"/>
                </a:solidFill>
                <a:latin typeface="Aptos"/>
              </a:rPr>
              <a:t>PROJECTED COST MODEL  |  Estimates from the supplied project brief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66928" y="3493008"/>
            <a:ext cx="3456432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31520" y="3657600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64748B"/>
                </a:solidFill>
                <a:latin typeface="Aptos"/>
              </a:rPr>
              <a:t>ONE-TIME SETUP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31520" y="3968496"/>
            <a:ext cx="31272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$0*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315968" y="3493008"/>
            <a:ext cx="3456432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480559" y="3657600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64748B"/>
                </a:solidFill>
                <a:latin typeface="Aptos"/>
              </a:rPr>
              <a:t>COST PER ROUND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480559" y="3968496"/>
            <a:ext cx="31272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~$0.0008*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065007" y="3493008"/>
            <a:ext cx="3456432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229599" y="3657600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64748B"/>
                </a:solidFill>
                <a:latin typeface="Aptos"/>
              </a:rPr>
              <a:t>30-BED FACILITY / MONTH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229599" y="3968496"/>
            <a:ext cx="31272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&lt;$20*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5800" y="4983480"/>
            <a:ext cx="1078992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9" b="1" i="0">
                <a:solidFill>
                  <a:srgbClr val="B45309"/>
                </a:solidFill>
                <a:latin typeface="Aptos"/>
              </a:rPr>
              <a:t>* Based on existing hospital IT infrastructure, local CPU speech processing, and Gemini 2.5 Flash OCR costing under $0.001 per structured extraction; brief assumes ~900 rounds/month. Actual cost depends on hosting, API usage, privacy/security controls, support and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2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 txBox="1"/>
          <p:nvPr/>
        </p:nvSpPr>
        <p:spPr>
          <a:xfrm>
            <a:off x="342338" y="326631"/>
            <a:ext cx="90525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300" b="1" i="0">
                <a:solidFill>
                  <a:srgbClr val="1A4599"/>
                </a:solidFill>
                <a:latin typeface="Aptos Display"/>
              </a:rPr>
              <a:t>What Next? Plans to Take the Initiative Forward</a:t>
            </a:r>
            <a:endParaRPr sz="2700" b="1" i="0" u="none" strike="noStrike" cap="none" spc="0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Planned steps from functional MVP to a supervised clinical pilot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713232" y="1463040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0664" y="1476756"/>
            <a:ext cx="44805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01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417320" y="1435608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MVP HARDENING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886200" y="1389888"/>
            <a:ext cx="745236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Security review, error handling, data-retention policy, and clinical validation plan.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964692" y="1755648"/>
            <a:ext cx="0" cy="667512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181"/>
          <p:cNvSpPr/>
          <p:nvPr/>
        </p:nvSpPr>
        <p:spPr>
          <a:xfrm>
            <a:off x="713232" y="2487168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740664" y="2500884"/>
            <a:ext cx="44805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417320" y="2459736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SUPERVISED PILOT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886200" y="2414016"/>
            <a:ext cx="745236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Evaluate in a 20-bed inpatient oncology ward under appropriate institutional oversight; measure documentation time and physician satisfaction.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964692" y="2779776"/>
            <a:ext cx="0" cy="667512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713232" y="3511296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740664" y="3525012"/>
            <a:ext cx="44805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417320" y="3483864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FHIR INTEGRATION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86200" y="3438144"/>
            <a:ext cx="745236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Build an open-source SMART-on-FHIR adapter for controlled two-way EHR synchronization.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964692" y="3803904"/>
            <a:ext cx="0" cy="667512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ounded Rectangle 191"/>
          <p:cNvSpPr/>
          <p:nvPr/>
        </p:nvSpPr>
        <p:spPr>
          <a:xfrm>
            <a:off x="713232" y="4535424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740664" y="4549140"/>
            <a:ext cx="44805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417320" y="450799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SPECIALTY EXPANSION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886200" y="4462272"/>
            <a:ext cx="7452360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Adapt terminology and screening rules for BMT, ICU, and pediatric oncology with specialty review.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13232" y="5596128"/>
            <a:ext cx="10771632" cy="475488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6112" y="5705856"/>
            <a:ext cx="10405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00843D"/>
                </a:solidFill>
                <a:latin typeface="Aptos"/>
              </a:rPr>
              <a:t>Public sharing preference: YES — MIT License on GitHub, as stated in the project brief.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3" descr="image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731520"/>
            <a:ext cx="6675120" cy="91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sz="3400" b="1" i="0">
                <a:solidFill>
                  <a:srgbClr val="1A4599"/>
                </a:solidFill>
                <a:latin typeface="Aptos Display"/>
              </a:rPr>
              <a:t>Thank You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1828800" y="329184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Binary Minds  •  Team Code: 1RKUPH</a:t>
            </a:r>
          </a:p>
        </p:txBody>
      </p:sp>
      <p:sp>
        <p:nvSpPr>
          <p:cNvPr id="184" name="Google Shape;184;p13"/>
          <p:cNvSpPr txBox="1"/>
          <p:nvPr/>
        </p:nvSpPr>
        <p:spPr>
          <a:xfrm>
            <a:off x="1371600" y="3886200"/>
            <a:ext cx="941832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rPr dirty="0" err="1"/>
              <a:t>Chalicheemala</a:t>
            </a:r>
            <a:r>
              <a:rPr dirty="0"/>
              <a:t> Surya Thejas (Team Leader)  •  Gaddam Sai Santhosh  •  Dr. Amrut S Kadam (BMCRI)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rPr dirty="0"/>
              <a:t>saisanthosh05012006@gmail.com   |   </a:t>
            </a:r>
            <a:r>
              <a:rPr lang="en-IN" sz="1200" dirty="0" err="1">
                <a:solidFill>
                  <a:srgbClr val="334155"/>
                </a:solidFill>
                <a:latin typeface="Calibri"/>
                <a:hlinkClick r:id="rId4"/>
              </a:rPr>
              <a:t>RoundsAI</a:t>
            </a:r>
            <a:r>
              <a:rPr lang="en-IN" sz="1200" dirty="0">
                <a:solidFill>
                  <a:srgbClr val="334155"/>
                </a:solidFill>
                <a:latin typeface="Calibri"/>
                <a:hlinkClick r:id="rId4"/>
              </a:rPr>
              <a:t> — Inpatient Oncology Ward Assistant</a:t>
            </a:r>
            <a:endParaRPr dirty="0"/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rPr dirty="0"/>
              <a:t>Demo Video: </a:t>
            </a:r>
            <a:r>
              <a:rPr lang="en-IN" sz="1200" dirty="0">
                <a:solidFill>
                  <a:srgbClr val="334155"/>
                </a:solidFill>
                <a:latin typeface="Calibri"/>
                <a:hlinkClick r:id="rId5"/>
              </a:rPr>
              <a:t>Health-a-thon 2026 VIDEO</a:t>
            </a:r>
            <a:r>
              <a:rPr dirty="0"/>
              <a:t>   |   GitHub:</a:t>
            </a:r>
            <a:r>
              <a:rPr lang="en-IN" dirty="0"/>
              <a:t> </a:t>
            </a:r>
            <a:r>
              <a:rPr lang="en-IN" sz="1200" dirty="0">
                <a:solidFill>
                  <a:srgbClr val="334155"/>
                </a:solidFill>
                <a:latin typeface="Calibri"/>
                <a:hlinkClick r:id="rId6"/>
              </a:rPr>
              <a:t>santhoshh005/</a:t>
            </a:r>
            <a:r>
              <a:rPr lang="en-IN" sz="1200" dirty="0" err="1">
                <a:solidFill>
                  <a:srgbClr val="334155"/>
                </a:solidFill>
                <a:latin typeface="Calibri"/>
                <a:hlinkClick r:id="rId6"/>
              </a:rPr>
              <a:t>Rounds_AI</a:t>
            </a:r>
            <a:endParaRPr dirty="0"/>
          </a:p>
        </p:txBody>
      </p:sp>
      <p:sp>
        <p:nvSpPr>
          <p:cNvPr id="185" name="Google Shape;185;p13"/>
          <p:cNvSpPr txBox="1"/>
          <p:nvPr/>
        </p:nvSpPr>
        <p:spPr>
          <a:xfrm>
            <a:off x="1828800" y="49834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" tIns="9144" rIns="9144" bIns="9144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400" b="1" i="0">
                <a:solidFill>
                  <a:srgbClr val="0F172A"/>
                </a:solidFill>
                <a:latin typeface="Aptos"/>
              </a:rPr>
              <a:t>RoundsAI — Inpatient Oncology Ward Copilot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530352" y="6565392"/>
            <a:ext cx="713232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sz="14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2146663855]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1675</Words>
  <Application>Microsoft Office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 [1792146663855]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RoundsAI — Health-a-thon 2026 Final Submission</dc:title>
  <dc:subject>Official Health-a-thon final submission template completed with RoundsAI content</dc:subject>
  <dc:creator>Binary Minds / Gaddam Sai Santhosh</dc:creator>
  <cp:lastModifiedBy>SAI SANTHOSH</cp:lastModifiedBy>
  <cp:revision>1</cp:revision>
  <dcterms:created xsi:type="dcterms:W3CDTF">2013-01-27T09:14:16Z</dcterms:created>
  <dcterms:modified xsi:type="dcterms:W3CDTF">2026-10-27T17:49:23Z</dcterms:modified>
</cp:coreProperties>
</file>